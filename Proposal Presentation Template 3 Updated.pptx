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73" r:id="rId6"/>
    <p:sldId id="261" r:id="rId7"/>
    <p:sldId id="274" r:id="rId8"/>
    <p:sldId id="263" r:id="rId9"/>
    <p:sldId id="275" r:id="rId10"/>
    <p:sldId id="265" r:id="rId11"/>
    <p:sldId id="266" r:id="rId12"/>
    <p:sldId id="267" r:id="rId13"/>
    <p:sldId id="268" r:id="rId14"/>
    <p:sldId id="277" r:id="rId15"/>
    <p:sldId id="282" r:id="rId16"/>
    <p:sldId id="269" r:id="rId17"/>
    <p:sldId id="270" r:id="rId18"/>
    <p:sldId id="278" r:id="rId19"/>
    <p:sldId id="280" r:id="rId20"/>
    <p:sldId id="281" r:id="rId21"/>
    <p:sldId id="271" r:id="rId22"/>
    <p:sldId id="272" r:id="rId23"/>
    <p:sldId id="279" r:id="rId24"/>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gqso+muD7qxSKyk66oXGt+27nM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379" autoAdjust="0"/>
  </p:normalViewPr>
  <p:slideViewPr>
    <p:cSldViewPr snapToGrid="0">
      <p:cViewPr varScale="1">
        <p:scale>
          <a:sx n="64" d="100"/>
          <a:sy n="64" d="100"/>
        </p:scale>
        <p:origin x="156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039867fdc9_0_11:notes"/>
          <p:cNvSpPr txBox="1">
            <a:spLocks noGrp="1"/>
          </p:cNvSpPr>
          <p:nvPr>
            <p:ph type="body" idx="1"/>
          </p:nvPr>
        </p:nvSpPr>
        <p:spPr>
          <a:xfrm>
            <a:off x="731500" y="4560550"/>
            <a:ext cx="5852100" cy="432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g2039867fdc9_0_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 name="Google Shape;167;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2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2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A9F852A6-4485-26A0-7D93-80EBFC516C8A}"/>
            </a:ext>
          </a:extLst>
        </p:cNvPr>
        <p:cNvGrpSpPr/>
        <p:nvPr/>
      </p:nvGrpSpPr>
      <p:grpSpPr>
        <a:xfrm>
          <a:off x="0" y="0"/>
          <a:ext cx="0" cy="0"/>
          <a:chOff x="0" y="0"/>
          <a:chExt cx="0" cy="0"/>
        </a:xfrm>
      </p:grpSpPr>
      <p:sp>
        <p:nvSpPr>
          <p:cNvPr id="172" name="Google Shape;172;p26:notes">
            <a:extLst>
              <a:ext uri="{FF2B5EF4-FFF2-40B4-BE49-F238E27FC236}">
                <a16:creationId xmlns:a16="http://schemas.microsoft.com/office/drawing/2014/main" id="{DD945F28-E68D-80C9-89EF-9DA328D2B011}"/>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26:notes">
            <a:extLst>
              <a:ext uri="{FF2B5EF4-FFF2-40B4-BE49-F238E27FC236}">
                <a16:creationId xmlns:a16="http://schemas.microsoft.com/office/drawing/2014/main" id="{BD72B4D5-3172-C2ED-3521-002365381244}"/>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7276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 name="Google Shape;26;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2" name="Google Shape;32;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3" name="Google Shape;33;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0" name="Google Shape;40;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23"/>
          <p:cNvSpPr>
            <a:spLocks noGrp="1"/>
          </p:cNvSpPr>
          <p:nvPr>
            <p:ph type="pic" idx="2"/>
          </p:nvPr>
        </p:nvSpPr>
        <p:spPr>
          <a:xfrm>
            <a:off x="1792288" y="612775"/>
            <a:ext cx="5486400" cy="4114800"/>
          </a:xfrm>
          <a:prstGeom prst="rect">
            <a:avLst/>
          </a:prstGeom>
          <a:noFill/>
          <a:ln>
            <a:noFill/>
          </a:ln>
        </p:spPr>
      </p:sp>
      <p:sp>
        <p:nvSpPr>
          <p:cNvPr id="64" name="Google Shape;64;p2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mailto:https://onlinelibrary.wiley.com/doi/10.1155/2022/5298468" TargetMode="External"/><Relationship Id="rId2" Type="http://schemas.openxmlformats.org/officeDocument/2006/relationships/hyperlink" Target="mailto:https://eric.ed.gov/?id=EJ1258959&amp;" TargetMode="External"/><Relationship Id="rId1" Type="http://schemas.openxmlformats.org/officeDocument/2006/relationships/slideLayout" Target="../slideLayouts/slideLayout2.xml"/><Relationship Id="rId6" Type="http://schemas.openxmlformats.org/officeDocument/2006/relationships/hyperlink" Target="mailto:https://beei.org/index.php/EEI/article/view/7711" TargetMode="External"/><Relationship Id="rId5" Type="http://schemas.openxmlformats.org/officeDocument/2006/relationships/hyperlink" Target="mailto:https://www.tandfonline.com/doi/full/10.1080/03075079.2019.1616171" TargetMode="External"/><Relationship Id="rId4" Type="http://schemas.openxmlformats.org/officeDocument/2006/relationships/hyperlink" Target="mailto:https://www.frontiersin.org/journals/artificial-intelligence/articles/10.3389/frai.2026.1874202/full"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Final Year Project Proposal</a:t>
            </a:r>
            <a:endParaRPr/>
          </a:p>
        </p:txBody>
      </p:sp>
      <p:sp>
        <p:nvSpPr>
          <p:cNvPr id="85" name="Google Shape;85;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fontScale="92500" lnSpcReduction="10000"/>
          </a:bodyPr>
          <a:lstStyle/>
          <a:p>
            <a:pPr marL="63500" lvl="0" indent="0">
              <a:spcBef>
                <a:spcPts val="0"/>
              </a:spcBef>
            </a:pPr>
            <a:r>
              <a:rPr lang="en-US" sz="2800" dirty="0">
                <a:solidFill>
                  <a:schemeClr val="tx1"/>
                </a:solidFill>
              </a:rPr>
              <a:t>Edu Path </a:t>
            </a:r>
          </a:p>
          <a:p>
            <a:pPr marL="63500" lvl="0" indent="0">
              <a:spcBef>
                <a:spcPts val="0"/>
              </a:spcBef>
            </a:pPr>
            <a:r>
              <a:rPr lang="en-US" sz="2800" dirty="0">
                <a:solidFill>
                  <a:schemeClr val="tx1"/>
                </a:solidFill>
              </a:rPr>
              <a:t>AI powered Academic and Career Decision Support System</a:t>
            </a:r>
          </a:p>
          <a:p>
            <a:pPr marL="63500" lvl="0" indent="0">
              <a:spcBef>
                <a:spcPts val="0"/>
              </a:spcBef>
            </a:pPr>
            <a:endParaRPr lang="en-US" sz="2800" dirty="0">
              <a:solidFill>
                <a:schemeClr val="tx1"/>
              </a:solidFill>
            </a:endParaRPr>
          </a:p>
          <a:p>
            <a:pPr marL="63500" lvl="0" indent="0">
              <a:spcBef>
                <a:spcPts val="0"/>
              </a:spcBef>
            </a:pPr>
            <a:r>
              <a:rPr lang="en-US" sz="1600" dirty="0">
                <a:solidFill>
                  <a:schemeClr val="tx1"/>
                </a:solidFill>
              </a:rPr>
              <a:t>Supervised By: Mr. Nadeem Khan (Lecturer)</a:t>
            </a:r>
            <a:endParaRPr sz="3600" dirty="0">
              <a:solidFill>
                <a:schemeClr val="tx1"/>
              </a:solidFill>
            </a:endParaRPr>
          </a:p>
        </p:txBody>
      </p:sp>
      <p:pic>
        <p:nvPicPr>
          <p:cNvPr id="86" name="Google Shape;86;p1" descr="Riphah.jpg"/>
          <p:cNvPicPr preferRelativeResize="0"/>
          <p:nvPr/>
        </p:nvPicPr>
        <p:blipFill rotWithShape="1">
          <a:blip r:embed="rId4">
            <a:alphaModFix/>
          </a:blip>
          <a:srcRect l="3033" t="4065" r="6926" b="4925"/>
          <a:stretch/>
        </p:blipFill>
        <p:spPr>
          <a:xfrm>
            <a:off x="4076700" y="1295400"/>
            <a:ext cx="990600"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Project Team</a:t>
            </a:r>
            <a:endParaRPr/>
          </a:p>
        </p:txBody>
      </p:sp>
      <p:sp>
        <p:nvSpPr>
          <p:cNvPr id="92" name="Google Shape;92;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dirty="0"/>
              <a:t>Farhan Ahmed (56193)</a:t>
            </a:r>
            <a:endParaRPr dirty="0"/>
          </a:p>
          <a:p>
            <a:pPr marL="342900" lvl="0" indent="-342900" algn="l" rtl="0">
              <a:lnSpc>
                <a:spcPct val="100000"/>
              </a:lnSpc>
              <a:spcBef>
                <a:spcPts val="640"/>
              </a:spcBef>
              <a:spcAft>
                <a:spcPts val="0"/>
              </a:spcAft>
              <a:buClr>
                <a:schemeClr val="dk1"/>
              </a:buClr>
              <a:buSzPts val="3200"/>
              <a:buChar char="•"/>
            </a:pPr>
            <a:r>
              <a:rPr lang="en-US" dirty="0"/>
              <a:t>Subhan Ahmed (55572)</a:t>
            </a:r>
            <a:endParaRPr dirty="0"/>
          </a:p>
          <a:p>
            <a:pPr marL="342900" lvl="0" indent="-342900" algn="l" rtl="0">
              <a:lnSpc>
                <a:spcPct val="100000"/>
              </a:lnSpc>
              <a:spcBef>
                <a:spcPts val="640"/>
              </a:spcBef>
              <a:spcAft>
                <a:spcPts val="0"/>
              </a:spcAft>
              <a:buClr>
                <a:schemeClr val="dk1"/>
              </a:buClr>
              <a:buSzPts val="3200"/>
              <a:buChar char="•"/>
            </a:pPr>
            <a:r>
              <a:rPr lang="en-US" dirty="0"/>
              <a:t>Muhammad Zeeshan (56038)</a:t>
            </a:r>
            <a:endParaRPr dirty="0"/>
          </a:p>
          <a:p>
            <a:pPr marL="342900" lvl="0" indent="-139700" algn="l" rtl="0">
              <a:lnSpc>
                <a:spcPct val="100000"/>
              </a:lnSpc>
              <a:spcBef>
                <a:spcPts val="640"/>
              </a:spcBef>
              <a:spcAft>
                <a:spcPts val="0"/>
              </a:spcAft>
              <a:buClr>
                <a:schemeClr val="dk1"/>
              </a:buClr>
              <a:buSzPts val="32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Table of Content</a:t>
            </a:r>
            <a:endParaRPr/>
          </a:p>
        </p:txBody>
      </p:sp>
      <p:sp>
        <p:nvSpPr>
          <p:cNvPr id="98" name="Google Shape;98;p3"/>
          <p:cNvSpPr txBox="1">
            <a:spLocks noGrp="1"/>
          </p:cNvSpPr>
          <p:nvPr>
            <p:ph type="body" idx="1"/>
          </p:nvPr>
        </p:nvSpPr>
        <p:spPr>
          <a:xfrm>
            <a:off x="457200" y="1447800"/>
            <a:ext cx="8229600" cy="45261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dirty="0"/>
              <a:t>Introduction and Background</a:t>
            </a:r>
            <a:endParaRPr dirty="0"/>
          </a:p>
          <a:p>
            <a:pPr marL="342900" lvl="0" indent="-342900" algn="l" rtl="0">
              <a:lnSpc>
                <a:spcPct val="100000"/>
              </a:lnSpc>
              <a:spcBef>
                <a:spcPts val="640"/>
              </a:spcBef>
              <a:spcAft>
                <a:spcPts val="0"/>
              </a:spcAft>
              <a:buClr>
                <a:schemeClr val="dk1"/>
              </a:buClr>
              <a:buSzPts val="3200"/>
              <a:buChar char="•"/>
            </a:pPr>
            <a:r>
              <a:rPr lang="en-US" dirty="0"/>
              <a:t>Literature Review and Summary Table</a:t>
            </a:r>
          </a:p>
          <a:p>
            <a:pPr marL="342900" lvl="0" indent="-342900" algn="l" rtl="0">
              <a:lnSpc>
                <a:spcPct val="100000"/>
              </a:lnSpc>
              <a:spcBef>
                <a:spcPts val="640"/>
              </a:spcBef>
              <a:spcAft>
                <a:spcPts val="0"/>
              </a:spcAft>
              <a:buClr>
                <a:schemeClr val="dk1"/>
              </a:buClr>
              <a:buSzPts val="3200"/>
              <a:buChar char="•"/>
            </a:pPr>
            <a:r>
              <a:rPr lang="en-US" dirty="0"/>
              <a:t>Gap Analysis</a:t>
            </a:r>
            <a:endParaRPr dirty="0"/>
          </a:p>
          <a:p>
            <a:pPr marL="342900" lvl="0" indent="-342900" algn="l" rtl="0">
              <a:lnSpc>
                <a:spcPct val="100000"/>
              </a:lnSpc>
              <a:spcBef>
                <a:spcPts val="640"/>
              </a:spcBef>
              <a:spcAft>
                <a:spcPts val="0"/>
              </a:spcAft>
              <a:buClr>
                <a:schemeClr val="dk1"/>
              </a:buClr>
              <a:buSzPts val="3200"/>
              <a:buChar char="•"/>
            </a:pPr>
            <a:r>
              <a:rPr lang="en-US" dirty="0"/>
              <a:t>Problem Statement</a:t>
            </a:r>
            <a:endParaRPr dirty="0"/>
          </a:p>
          <a:p>
            <a:pPr marL="342900" lvl="0" indent="-342900" algn="l" rtl="0">
              <a:lnSpc>
                <a:spcPct val="100000"/>
              </a:lnSpc>
              <a:spcBef>
                <a:spcPts val="640"/>
              </a:spcBef>
              <a:spcAft>
                <a:spcPts val="0"/>
              </a:spcAft>
              <a:buClr>
                <a:schemeClr val="dk1"/>
              </a:buClr>
              <a:buSzPts val="3200"/>
              <a:buChar char="•"/>
            </a:pPr>
            <a:r>
              <a:rPr lang="en-US" dirty="0"/>
              <a:t>Proposed Solution &amp; Methodology</a:t>
            </a:r>
            <a:endParaRPr dirty="0"/>
          </a:p>
          <a:p>
            <a:pPr marL="342900" lvl="0" indent="-342900" algn="l" rtl="0">
              <a:lnSpc>
                <a:spcPct val="100000"/>
              </a:lnSpc>
              <a:spcBef>
                <a:spcPts val="640"/>
              </a:spcBef>
              <a:spcAft>
                <a:spcPts val="0"/>
              </a:spcAft>
              <a:buClr>
                <a:schemeClr val="dk1"/>
              </a:buClr>
              <a:buSzPts val="3200"/>
              <a:buChar char="•"/>
            </a:pPr>
            <a:r>
              <a:rPr lang="en-US" dirty="0"/>
              <a:t>Project Scope</a:t>
            </a:r>
            <a:endParaRPr dirty="0"/>
          </a:p>
          <a:p>
            <a:pPr marL="342900" lvl="0" indent="-342900" algn="l" rtl="0">
              <a:lnSpc>
                <a:spcPct val="100000"/>
              </a:lnSpc>
              <a:spcBef>
                <a:spcPts val="640"/>
              </a:spcBef>
              <a:spcAft>
                <a:spcPts val="0"/>
              </a:spcAft>
              <a:buSzPts val="3200"/>
              <a:buChar char="•"/>
            </a:pPr>
            <a:r>
              <a:rPr lang="en-US" dirty="0"/>
              <a:t>Work Breakdown Structure</a:t>
            </a:r>
            <a:endParaRPr dirty="0"/>
          </a:p>
          <a:p>
            <a:pPr marL="342900" lvl="0" indent="-342900" algn="l" rtl="0">
              <a:lnSpc>
                <a:spcPct val="100000"/>
              </a:lnSpc>
              <a:spcBef>
                <a:spcPts val="640"/>
              </a:spcBef>
              <a:spcAft>
                <a:spcPts val="0"/>
              </a:spcAft>
              <a:buSzPts val="3200"/>
              <a:buChar char="•"/>
            </a:pPr>
            <a:r>
              <a:rPr lang="en-US" dirty="0"/>
              <a:t>Roles and Responsibilities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INTRODUCTION AND BACKGROUND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solidFill>
                  <a:schemeClr val="tx1"/>
                </a:solidFill>
              </a:rPr>
              <a:t>Introduction and Background</a:t>
            </a:r>
            <a:endParaRPr>
              <a:solidFill>
                <a:schemeClr val="tx1"/>
              </a:solidFill>
            </a:endParaRPr>
          </a:p>
        </p:txBody>
      </p:sp>
      <p:sp>
        <p:nvSpPr>
          <p:cNvPr id="201" name="Card 201"/>
          <p:cNvSpPr/>
          <p:nvPr/>
        </p:nvSpPr>
        <p:spPr>
          <a:xfrm>
            <a:off x="4572000" y="1623219"/>
            <a:ext cx="3964800" cy="2057400"/>
          </a:xfrm>
          <a:prstGeom prst="roundRect">
            <a:avLst>
              <a:gd name="adj" fmla="val 5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137160" rIns="182880" bIns="137160" anchor="t" anchorCtr="0">
            <a:noAutofit/>
          </a:bodyPr>
          <a:lstStyle/>
          <a:p>
            <a:pPr marL="0" indent="0" algn="l">
              <a:lnSpc>
                <a:spcPct val="100000"/>
              </a:lnSpc>
              <a:spcAft>
                <a:spcPts val="600"/>
              </a:spcAft>
              <a:buNone/>
            </a:pPr>
            <a:r>
              <a:rPr lang="en-US" sz="1800" b="1" dirty="0">
                <a:solidFill>
                  <a:schemeClr val="tx1"/>
                </a:solidFill>
              </a:rPr>
              <a:t>Importance of the Problem</a:t>
            </a:r>
          </a:p>
          <a:p>
            <a:pPr marL="0" indent="0" algn="l">
              <a:lnSpc>
                <a:spcPct val="115000"/>
              </a:lnSpc>
              <a:spcAft>
                <a:spcPts val="0"/>
              </a:spcAft>
              <a:buNone/>
            </a:pPr>
            <a:r>
              <a:rPr lang="en-US" sz="1300" dirty="0">
                <a:solidFill>
                  <a:schemeClr val="tx1"/>
                </a:solidFill>
              </a:rPr>
              <a:t>Choosing the right academic field, degree program, and university is critical for a student’s future. A wrong choice can cause learning difficulties, wasted time, and financial loss, so personalized guidance is essential.</a:t>
            </a:r>
          </a:p>
        </p:txBody>
      </p:sp>
      <p:sp>
        <p:nvSpPr>
          <p:cNvPr id="202" name="Card 202"/>
          <p:cNvSpPr/>
          <p:nvPr/>
        </p:nvSpPr>
        <p:spPr>
          <a:xfrm>
            <a:off x="457200" y="1623219"/>
            <a:ext cx="3964800" cy="2057400"/>
          </a:xfrm>
          <a:prstGeom prst="roundRect">
            <a:avLst>
              <a:gd name="adj" fmla="val 5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137160" rIns="182880" bIns="137160" anchor="t" anchorCtr="0">
            <a:noAutofit/>
          </a:bodyPr>
          <a:lstStyle/>
          <a:p>
            <a:pPr marL="0" indent="0" algn="l">
              <a:lnSpc>
                <a:spcPct val="100000"/>
              </a:lnSpc>
              <a:spcAft>
                <a:spcPts val="600"/>
              </a:spcAft>
              <a:buNone/>
            </a:pPr>
            <a:r>
              <a:rPr lang="en-US" sz="1800" b="1" dirty="0">
                <a:solidFill>
                  <a:schemeClr val="tx1"/>
                </a:solidFill>
              </a:rPr>
              <a:t>Project Overview</a:t>
            </a:r>
          </a:p>
          <a:p>
            <a:pPr marL="0" indent="0" algn="l">
              <a:lnSpc>
                <a:spcPct val="115000"/>
              </a:lnSpc>
              <a:spcAft>
                <a:spcPts val="0"/>
              </a:spcAft>
              <a:buNone/>
            </a:pPr>
            <a:r>
              <a:rPr lang="en-US" sz="1300" dirty="0">
                <a:solidFill>
                  <a:schemeClr val="tx1"/>
                </a:solidFill>
              </a:rPr>
              <a:t>Edu Path is an AI-powered system that gives personalized academic and career recommendations. Using a student’s background, interests, skills, career goals, and preferences, it suggests suitable fields, degree programs, and universities.</a:t>
            </a:r>
          </a:p>
        </p:txBody>
      </p:sp>
      <p:sp>
        <p:nvSpPr>
          <p:cNvPr id="203" name="Card 203"/>
          <p:cNvSpPr/>
          <p:nvPr/>
        </p:nvSpPr>
        <p:spPr>
          <a:xfrm>
            <a:off x="1072000" y="3886200"/>
            <a:ext cx="7000000" cy="1400000"/>
          </a:xfrm>
          <a:prstGeom prst="roundRect">
            <a:avLst>
              <a:gd name="adj" fmla="val 5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137160" rIns="182880" bIns="137160" anchor="t" anchorCtr="0">
            <a:noAutofit/>
          </a:bodyPr>
          <a:lstStyle/>
          <a:p>
            <a:pPr marL="0" indent="0" algn="l">
              <a:lnSpc>
                <a:spcPct val="100000"/>
              </a:lnSpc>
              <a:spcAft>
                <a:spcPts val="600"/>
              </a:spcAft>
              <a:buNone/>
            </a:pPr>
            <a:r>
              <a:rPr lang="en-US" sz="1800" b="1" dirty="0">
                <a:solidFill>
                  <a:schemeClr val="tx1"/>
                </a:solidFill>
              </a:rPr>
              <a:t>Current Challenges</a:t>
            </a:r>
          </a:p>
          <a:p>
            <a:pPr marL="0" indent="0" algn="l">
              <a:lnSpc>
                <a:spcPct val="115000"/>
              </a:lnSpc>
              <a:spcAft>
                <a:spcPts val="0"/>
              </a:spcAft>
              <a:buNone/>
            </a:pPr>
            <a:r>
              <a:rPr lang="en-US" sz="1300" dirty="0">
                <a:solidFill>
                  <a:schemeClr val="tx1"/>
                </a:solidFill>
              </a:rPr>
              <a:t>Students differ widely in grades, interests, skills, career goals, budgets, and location preferences, yet no single system weighs all these factors together. Searching for fields, programs, and universities separately makes the decision confusing and time-consuming.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LITERATURE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137160"/>
            <a:ext cx="8229600" cy="85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Literature Review</a:t>
            </a:r>
            <a:endParaRPr/>
          </a:p>
        </p:txBody>
      </p:sp>
      <p:graphicFrame>
        <p:nvGraphicFramePr>
          <p:cNvPr id="210" name="Literature Review Table"/>
          <p:cNvGraphicFramePr>
            <a:graphicFrameLocks noGrp="1"/>
          </p:cNvGraphicFramePr>
          <p:nvPr>
            <p:extLst>
              <p:ext uri="{D42A27DB-BD31-4B8C-83A1-F6EECF244321}">
                <p14:modId xmlns:p14="http://schemas.microsoft.com/office/powerpoint/2010/main" val="898117407"/>
              </p:ext>
            </p:extLst>
          </p:nvPr>
        </p:nvGraphicFramePr>
        <p:xfrm>
          <a:off x="194873" y="1049999"/>
          <a:ext cx="8742650" cy="4826713"/>
        </p:xfrm>
        <a:graphic>
          <a:graphicData uri="http://schemas.openxmlformats.org/drawingml/2006/table">
            <a:tbl>
              <a:tblPr firstRow="1">
                <a:tableStyleId>{5C22544A-7EE6-4342-B048-85BDC9FD1C3A}</a:tableStyleId>
              </a:tblPr>
              <a:tblGrid>
                <a:gridCol w="299802">
                  <a:extLst>
                    <a:ext uri="{9D8B030D-6E8A-4147-A177-3AD203B41FA5}">
                      <a16:colId xmlns:a16="http://schemas.microsoft.com/office/drawing/2014/main" val="20000"/>
                    </a:ext>
                  </a:extLst>
                </a:gridCol>
                <a:gridCol w="1293711">
                  <a:extLst>
                    <a:ext uri="{9D8B030D-6E8A-4147-A177-3AD203B41FA5}">
                      <a16:colId xmlns:a16="http://schemas.microsoft.com/office/drawing/2014/main" val="20001"/>
                    </a:ext>
                  </a:extLst>
                </a:gridCol>
                <a:gridCol w="1115459">
                  <a:extLst>
                    <a:ext uri="{9D8B030D-6E8A-4147-A177-3AD203B41FA5}">
                      <a16:colId xmlns:a16="http://schemas.microsoft.com/office/drawing/2014/main" val="20002"/>
                    </a:ext>
                  </a:extLst>
                </a:gridCol>
                <a:gridCol w="1381045">
                  <a:extLst>
                    <a:ext uri="{9D8B030D-6E8A-4147-A177-3AD203B41FA5}">
                      <a16:colId xmlns:a16="http://schemas.microsoft.com/office/drawing/2014/main" val="20003"/>
                    </a:ext>
                  </a:extLst>
                </a:gridCol>
                <a:gridCol w="2602738">
                  <a:extLst>
                    <a:ext uri="{9D8B030D-6E8A-4147-A177-3AD203B41FA5}">
                      <a16:colId xmlns:a16="http://schemas.microsoft.com/office/drawing/2014/main" val="20004"/>
                    </a:ext>
                  </a:extLst>
                </a:gridCol>
                <a:gridCol w="2049895">
                  <a:extLst>
                    <a:ext uri="{9D8B030D-6E8A-4147-A177-3AD203B41FA5}">
                      <a16:colId xmlns:a16="http://schemas.microsoft.com/office/drawing/2014/main" val="20005"/>
                    </a:ext>
                  </a:extLst>
                </a:gridCol>
              </a:tblGrid>
              <a:tr h="669515">
                <a:tc>
                  <a:txBody>
                    <a:bodyPr/>
                    <a:lstStyle/>
                    <a:p>
                      <a:pPr algn="l">
                        <a:lnSpc>
                          <a:spcPct val="100000"/>
                        </a:lnSpc>
                      </a:pPr>
                      <a:r>
                        <a:rPr lang="en-US" sz="1400" b="1" dirty="0">
                          <a:solidFill>
                            <a:srgbClr val="FFFFFF"/>
                          </a:solidFill>
                        </a:rPr>
                        <a:t>No.</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Study</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Focus</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Method</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Key Finding</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Limitation</a:t>
                      </a:r>
                    </a:p>
                  </a:txBody>
                  <a:tcPr marL="36576" marR="36576" marT="13716" marB="13716" anchor="ctr">
                    <a:solidFill>
                      <a:srgbClr val="193B69"/>
                    </a:solidFill>
                  </a:tcPr>
                </a:tc>
                <a:extLst>
                  <a:ext uri="{0D108BD9-81ED-4DB2-BD59-A6C34878D82A}">
                    <a16:rowId xmlns:a16="http://schemas.microsoft.com/office/drawing/2014/main" val="10000"/>
                  </a:ext>
                </a:extLst>
              </a:tr>
              <a:tr h="717338">
                <a:tc>
                  <a:txBody>
                    <a:bodyPr/>
                    <a:lstStyle/>
                    <a:p>
                      <a:pPr algn="l">
                        <a:lnSpc>
                          <a:spcPct val="100000"/>
                        </a:lnSpc>
                      </a:pPr>
                      <a:r>
                        <a:rPr lang="en-US" sz="1200" dirty="0">
                          <a:solidFill>
                            <a:srgbClr val="262626"/>
                          </a:solidFill>
                        </a:rPr>
                        <a:t>1</a:t>
                      </a:r>
                    </a:p>
                  </a:txBody>
                  <a:tcPr marL="36576" marR="36576" marT="13716" marB="13716" anchor="ctr">
                    <a:solidFill>
                      <a:srgbClr val="FFFFFF"/>
                    </a:solidFill>
                  </a:tcPr>
                </a:tc>
                <a:tc>
                  <a:txBody>
                    <a:bodyPr/>
                    <a:lstStyle/>
                    <a:p>
                      <a:pPr algn="l">
                        <a:lnSpc>
                          <a:spcPct val="100000"/>
                        </a:lnSpc>
                      </a:pPr>
                      <a:r>
                        <a:rPr lang="en-US" sz="1200" dirty="0">
                          <a:solidFill>
                            <a:srgbClr val="262626"/>
                          </a:solidFill>
                          <a:hlinkClick r:id="rId2"/>
                        </a:rPr>
                        <a:t>Ezz &amp; Elshenawy (2020)</a:t>
                      </a:r>
                      <a:endParaRPr lang="en-US" sz="1200" dirty="0">
                        <a:solidFill>
                          <a:srgbClr val="262626"/>
                        </a:solidFill>
                      </a:endParaRP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Academic Program Recommendation</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Machine Learning</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Predicted suitable engineering programs using student academic data.</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Mainly focused on academic performance and engineering programs.</a:t>
                      </a:r>
                    </a:p>
                  </a:txBody>
                  <a:tcPr marL="36576" marR="36576" marT="13716" marB="13716" anchor="ctr">
                    <a:solidFill>
                      <a:srgbClr val="FFFFFF"/>
                    </a:solidFill>
                  </a:tcPr>
                </a:tc>
                <a:extLst>
                  <a:ext uri="{0D108BD9-81ED-4DB2-BD59-A6C34878D82A}">
                    <a16:rowId xmlns:a16="http://schemas.microsoft.com/office/drawing/2014/main" val="10001"/>
                  </a:ext>
                </a:extLst>
              </a:tr>
              <a:tr h="717338">
                <a:tc>
                  <a:txBody>
                    <a:bodyPr/>
                    <a:lstStyle/>
                    <a:p>
                      <a:pPr algn="l">
                        <a:lnSpc>
                          <a:spcPct val="100000"/>
                        </a:lnSpc>
                      </a:pPr>
                      <a:r>
                        <a:rPr lang="en-US" sz="1200" dirty="0">
                          <a:solidFill>
                            <a:srgbClr val="262626"/>
                          </a:solidFill>
                        </a:rPr>
                        <a:t>2</a:t>
                      </a:r>
                    </a:p>
                  </a:txBody>
                  <a:tcPr marL="36576" marR="36576" marT="13716" marB="13716" anchor="ctr">
                    <a:solidFill>
                      <a:srgbClr val="F4F6F9"/>
                    </a:solidFill>
                  </a:tcPr>
                </a:tc>
                <a:tc>
                  <a:txBody>
                    <a:bodyPr/>
                    <a:lstStyle/>
                    <a:p>
                      <a:pPr algn="l">
                        <a:lnSpc>
                          <a:spcPct val="100000"/>
                        </a:lnSpc>
                      </a:pPr>
                      <a:r>
                        <a:rPr lang="en-US" sz="1200" dirty="0">
                          <a:solidFill>
                            <a:srgbClr val="262626"/>
                          </a:solidFill>
                          <a:hlinkClick r:id="rId3"/>
                        </a:rPr>
                        <a:t>Kumar et al. (2022)</a:t>
                      </a:r>
                      <a:endParaRPr lang="en-US" sz="1200" dirty="0">
                        <a:solidFill>
                          <a:srgbClr val="262626"/>
                        </a:solidFill>
                      </a:endParaRP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Academic Program Recommendation</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Fuzzy SVM, Random Forest, C4.5</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Used 21 student attributes to predict suitable academic programs.</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Does not include university recommendation.</a:t>
                      </a:r>
                    </a:p>
                  </a:txBody>
                  <a:tcPr marL="36576" marR="36576" marT="13716" marB="13716" anchor="ctr">
                    <a:solidFill>
                      <a:srgbClr val="F4F6F9"/>
                    </a:solidFill>
                  </a:tcPr>
                </a:tc>
                <a:extLst>
                  <a:ext uri="{0D108BD9-81ED-4DB2-BD59-A6C34878D82A}">
                    <a16:rowId xmlns:a16="http://schemas.microsoft.com/office/drawing/2014/main" val="10002"/>
                  </a:ext>
                </a:extLst>
              </a:tr>
              <a:tr h="940171">
                <a:tc>
                  <a:txBody>
                    <a:bodyPr/>
                    <a:lstStyle/>
                    <a:p>
                      <a:pPr algn="l">
                        <a:lnSpc>
                          <a:spcPct val="100000"/>
                        </a:lnSpc>
                      </a:pPr>
                      <a:r>
                        <a:rPr lang="en-US" sz="1200" dirty="0">
                          <a:solidFill>
                            <a:srgbClr val="262626"/>
                          </a:solidFill>
                        </a:rPr>
                        <a:t>3</a:t>
                      </a:r>
                    </a:p>
                  </a:txBody>
                  <a:tcPr marL="36576" marR="36576" marT="13716" marB="13716" anchor="ctr">
                    <a:solidFill>
                      <a:srgbClr val="FFFFFF"/>
                    </a:solidFill>
                  </a:tcPr>
                </a:tc>
                <a:tc>
                  <a:txBody>
                    <a:bodyPr/>
                    <a:lstStyle/>
                    <a:p>
                      <a:pPr algn="l">
                        <a:lnSpc>
                          <a:spcPct val="100000"/>
                        </a:lnSpc>
                      </a:pPr>
                      <a:r>
                        <a:rPr lang="en-US" sz="1200" dirty="0">
                          <a:solidFill>
                            <a:srgbClr val="262626"/>
                          </a:solidFill>
                          <a:hlinkClick r:id="rId4"/>
                        </a:rPr>
                        <a:t>Rances et al. (2026)</a:t>
                      </a:r>
                      <a:endParaRPr lang="en-US" sz="1200" dirty="0">
                        <a:solidFill>
                          <a:srgbClr val="262626"/>
                        </a:solidFill>
                      </a:endParaRP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Computing Degree Recommendation</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Naïve Bayes, Content-Based Filtering, Cosine Similarity</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Used academics, interests, hobbies, career goals, and personality for program recommendation.</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Limited to computing programs; no university recommendation.</a:t>
                      </a:r>
                    </a:p>
                  </a:txBody>
                  <a:tcPr marL="36576" marR="36576" marT="13716" marB="13716" anchor="ctr">
                    <a:solidFill>
                      <a:srgbClr val="FFFFFF"/>
                    </a:solidFill>
                  </a:tcPr>
                </a:tc>
                <a:extLst>
                  <a:ext uri="{0D108BD9-81ED-4DB2-BD59-A6C34878D82A}">
                    <a16:rowId xmlns:a16="http://schemas.microsoft.com/office/drawing/2014/main" val="10003"/>
                  </a:ext>
                </a:extLst>
              </a:tr>
              <a:tr h="717338">
                <a:tc>
                  <a:txBody>
                    <a:bodyPr/>
                    <a:lstStyle/>
                    <a:p>
                      <a:pPr algn="l">
                        <a:lnSpc>
                          <a:spcPct val="100000"/>
                        </a:lnSpc>
                      </a:pPr>
                      <a:r>
                        <a:rPr lang="en-US" sz="1200" dirty="0">
                          <a:solidFill>
                            <a:srgbClr val="262626"/>
                          </a:solidFill>
                        </a:rPr>
                        <a:t>4</a:t>
                      </a:r>
                    </a:p>
                  </a:txBody>
                  <a:tcPr marL="36576" marR="36576" marT="13716" marB="13716" anchor="ctr">
                    <a:solidFill>
                      <a:srgbClr val="F4F6F9"/>
                    </a:solidFill>
                  </a:tcPr>
                </a:tc>
                <a:tc>
                  <a:txBody>
                    <a:bodyPr/>
                    <a:lstStyle/>
                    <a:p>
                      <a:pPr algn="l">
                        <a:lnSpc>
                          <a:spcPct val="100000"/>
                        </a:lnSpc>
                      </a:pPr>
                      <a:r>
                        <a:rPr lang="en-US" sz="1200" dirty="0">
                          <a:solidFill>
                            <a:srgbClr val="262626"/>
                          </a:solidFill>
                          <a:hlinkClick r:id="rId5"/>
                        </a:rPr>
                        <a:t>Kaklauskas et al. (2019)</a:t>
                      </a:r>
                      <a:endParaRPr lang="en-US" sz="1200" dirty="0">
                        <a:solidFill>
                          <a:srgbClr val="262626"/>
                        </a:solidFill>
                      </a:endParaRP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University &amp; Course Selection</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TOPSIS / MCDM</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Used multiple criteria to support discipline, course, and university selection.</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Does not provide an integrated AI-based personalized recommendation process.</a:t>
                      </a:r>
                    </a:p>
                  </a:txBody>
                  <a:tcPr marL="36576" marR="36576" marT="13716" marB="13716" anchor="ctr">
                    <a:solidFill>
                      <a:srgbClr val="F4F6F9"/>
                    </a:solidFill>
                  </a:tcPr>
                </a:tc>
                <a:extLst>
                  <a:ext uri="{0D108BD9-81ED-4DB2-BD59-A6C34878D82A}">
                    <a16:rowId xmlns:a16="http://schemas.microsoft.com/office/drawing/2014/main" val="10004"/>
                  </a:ext>
                </a:extLst>
              </a:tr>
              <a:tr h="940171">
                <a:tc>
                  <a:txBody>
                    <a:bodyPr/>
                    <a:lstStyle/>
                    <a:p>
                      <a:pPr algn="l">
                        <a:lnSpc>
                          <a:spcPct val="100000"/>
                        </a:lnSpc>
                      </a:pPr>
                      <a:r>
                        <a:rPr lang="en-US" sz="1200" dirty="0">
                          <a:solidFill>
                            <a:srgbClr val="262626"/>
                          </a:solidFill>
                        </a:rPr>
                        <a:t>5</a:t>
                      </a:r>
                    </a:p>
                  </a:txBody>
                  <a:tcPr marL="36576" marR="36576" marT="13716" marB="13716" anchor="ctr">
                    <a:solidFill>
                      <a:srgbClr val="FFFFFF"/>
                    </a:solidFill>
                  </a:tcPr>
                </a:tc>
                <a:tc>
                  <a:txBody>
                    <a:bodyPr/>
                    <a:lstStyle/>
                    <a:p>
                      <a:pPr algn="l">
                        <a:lnSpc>
                          <a:spcPct val="100000"/>
                        </a:lnSpc>
                      </a:pPr>
                      <a:r>
                        <a:rPr lang="en-US" sz="1200" dirty="0">
                          <a:solidFill>
                            <a:srgbClr val="262626"/>
                          </a:solidFill>
                          <a:hlinkClick r:id="rId6"/>
                        </a:rPr>
                        <a:t>Arcinas et al. (2025)</a:t>
                      </a:r>
                      <a:endParaRPr lang="en-US" sz="1200" dirty="0">
                        <a:solidFill>
                          <a:srgbClr val="262626"/>
                        </a:solidFill>
                      </a:endParaRP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Course Recommendation</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PCA, AdaBoost, KNN, Naïve Bayes</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Applied ML techniques to recommend suitable courses.</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Focuses on course recommendation rather than field → program → university.</a:t>
                      </a:r>
                    </a:p>
                  </a:txBody>
                  <a:tcPr marL="36576" marR="36576" marT="13716" marB="1371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2039867fdc9_0_11"/>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Gap Analysis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137160"/>
            <a:ext cx="8229600" cy="85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Gap Analysis</a:t>
            </a:r>
            <a:endParaRPr/>
          </a:p>
        </p:txBody>
      </p:sp>
      <p:graphicFrame>
        <p:nvGraphicFramePr>
          <p:cNvPr id="220" name="Gap Analysis Table"/>
          <p:cNvGraphicFramePr>
            <a:graphicFrameLocks noGrp="1"/>
          </p:cNvGraphicFramePr>
          <p:nvPr/>
        </p:nvGraphicFramePr>
        <p:xfrm>
          <a:off x="457200" y="1050000"/>
          <a:ext cx="8229600" cy="4310000"/>
        </p:xfrm>
        <a:graphic>
          <a:graphicData uri="http://schemas.openxmlformats.org/drawingml/2006/table">
            <a:tbl>
              <a:tblPr first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40000">
                <a:tc>
                  <a:txBody>
                    <a:bodyPr/>
                    <a:lstStyle/>
                    <a:p>
                      <a:pPr algn="l">
                        <a:lnSpc>
                          <a:spcPct val="108000"/>
                        </a:lnSpc>
                      </a:pPr>
                      <a:r>
                        <a:rPr lang="en-US" sz="1100" b="1" dirty="0">
                          <a:solidFill>
                            <a:srgbClr val="FFFFFF"/>
                          </a:solidFill>
                        </a:rPr>
                        <a:t>Existing Research</a:t>
                      </a:r>
                    </a:p>
                  </a:txBody>
                  <a:tcPr marL="82296" marR="82296" anchor="ctr">
                    <a:solidFill>
                      <a:srgbClr val="193B69"/>
                    </a:solidFill>
                  </a:tcPr>
                </a:tc>
                <a:tc>
                  <a:txBody>
                    <a:bodyPr/>
                    <a:lstStyle/>
                    <a:p>
                      <a:pPr algn="l">
                        <a:lnSpc>
                          <a:spcPct val="108000"/>
                        </a:lnSpc>
                      </a:pPr>
                      <a:r>
                        <a:rPr lang="en-US" sz="1100" b="1" dirty="0">
                          <a:solidFill>
                            <a:srgbClr val="FFFFFF"/>
                          </a:solidFill>
                        </a:rPr>
                        <a:t>Identified Gap</a:t>
                      </a:r>
                    </a:p>
                  </a:txBody>
                  <a:tcPr marL="82296" marR="82296" anchor="ctr">
                    <a:solidFill>
                      <a:srgbClr val="193B69"/>
                    </a:solidFill>
                  </a:tcPr>
                </a:tc>
                <a:tc>
                  <a:txBody>
                    <a:bodyPr/>
                    <a:lstStyle/>
                    <a:p>
                      <a:pPr algn="l">
                        <a:lnSpc>
                          <a:spcPct val="108000"/>
                        </a:lnSpc>
                      </a:pPr>
                      <a:r>
                        <a:rPr lang="en-US" sz="1100" b="1" dirty="0">
                          <a:solidFill>
                            <a:srgbClr val="FFFFFF"/>
                          </a:solidFill>
                        </a:rPr>
                        <a:t>Our Project</a:t>
                      </a:r>
                    </a:p>
                  </a:txBody>
                  <a:tcPr marL="82296" marR="82296" anchor="ctr">
                    <a:solidFill>
                      <a:srgbClr val="193B69"/>
                    </a:solidFill>
                  </a:tcPr>
                </a:tc>
                <a:extLst>
                  <a:ext uri="{0D108BD9-81ED-4DB2-BD59-A6C34878D82A}">
                    <a16:rowId xmlns:a16="http://schemas.microsoft.com/office/drawing/2014/main" val="10000"/>
                  </a:ext>
                </a:extLst>
              </a:tr>
              <a:tr h="780000">
                <a:tc>
                  <a:txBody>
                    <a:bodyPr/>
                    <a:lstStyle/>
                    <a:p>
                      <a:pPr algn="l">
                        <a:lnSpc>
                          <a:spcPct val="108000"/>
                        </a:lnSpc>
                      </a:pPr>
                      <a:r>
                        <a:rPr lang="en-US" sz="1000" dirty="0">
                          <a:solidFill>
                            <a:srgbClr val="262626"/>
                          </a:solidFill>
                        </a:rPr>
                        <a:t>Academic program recommendation focuses mainly on predicting suitable programs.</a:t>
                      </a:r>
                    </a:p>
                  </a:txBody>
                  <a:tcPr marL="82296" marR="82296" anchor="ctr">
                    <a:solidFill>
                      <a:srgbClr val="FFFFFF"/>
                    </a:solidFill>
                  </a:tcPr>
                </a:tc>
                <a:tc>
                  <a:txBody>
                    <a:bodyPr/>
                    <a:lstStyle/>
                    <a:p>
                      <a:pPr algn="l">
                        <a:lnSpc>
                          <a:spcPct val="108000"/>
                        </a:lnSpc>
                      </a:pPr>
                      <a:r>
                        <a:rPr lang="en-US" sz="1000" dirty="0">
                          <a:solidFill>
                            <a:srgbClr val="262626"/>
                          </a:solidFill>
                        </a:rPr>
                        <a:t>Does not provide a complete recommendation from field to university.</a:t>
                      </a:r>
                    </a:p>
                  </a:txBody>
                  <a:tcPr marL="82296" marR="82296" anchor="ctr">
                    <a:solidFill>
                      <a:srgbClr val="FFFFFF"/>
                    </a:solidFill>
                  </a:tcPr>
                </a:tc>
                <a:tc>
                  <a:txBody>
                    <a:bodyPr/>
                    <a:lstStyle/>
                    <a:p>
                      <a:pPr algn="l">
                        <a:lnSpc>
                          <a:spcPct val="108000"/>
                        </a:lnSpc>
                      </a:pPr>
                      <a:r>
                        <a:rPr lang="en-US" sz="1000" dirty="0">
                          <a:solidFill>
                            <a:srgbClr val="262626"/>
                          </a:solidFill>
                        </a:rPr>
                        <a:t>Recommends </a:t>
                      </a:r>
                      <a:r>
                        <a:rPr lang="en-US" sz="1000" b="1" dirty="0">
                          <a:solidFill>
                            <a:srgbClr val="262626"/>
                          </a:solidFill>
                        </a:rPr>
                        <a:t>field → program → university</a:t>
                      </a:r>
                      <a:r>
                        <a:rPr lang="en-US" sz="1000" dirty="0">
                          <a:solidFill>
                            <a:srgbClr val="262626"/>
                          </a:solidFill>
                        </a:rPr>
                        <a:t>.</a:t>
                      </a:r>
                    </a:p>
                  </a:txBody>
                  <a:tcPr marL="82296" marR="82296" anchor="ctr">
                    <a:solidFill>
                      <a:srgbClr val="FFFFFF"/>
                    </a:solidFill>
                  </a:tcPr>
                </a:tc>
                <a:extLst>
                  <a:ext uri="{0D108BD9-81ED-4DB2-BD59-A6C34878D82A}">
                    <a16:rowId xmlns:a16="http://schemas.microsoft.com/office/drawing/2014/main" val="10001"/>
                  </a:ext>
                </a:extLst>
              </a:tr>
              <a:tr h="780000">
                <a:tc>
                  <a:txBody>
                    <a:bodyPr/>
                    <a:lstStyle/>
                    <a:p>
                      <a:pPr algn="l">
                        <a:lnSpc>
                          <a:spcPct val="108000"/>
                        </a:lnSpc>
                      </a:pPr>
                      <a:r>
                        <a:rPr lang="en-US" sz="1000" dirty="0">
                          <a:solidFill>
                            <a:srgbClr val="262626"/>
                          </a:solidFill>
                        </a:rPr>
                        <a:t>Some systems use limited student information such as grades or academic performance.</a:t>
                      </a:r>
                    </a:p>
                  </a:txBody>
                  <a:tcPr marL="82296" marR="82296" anchor="ctr">
                    <a:solidFill>
                      <a:srgbClr val="F4F6F9"/>
                    </a:solidFill>
                  </a:tcPr>
                </a:tc>
                <a:tc>
                  <a:txBody>
                    <a:bodyPr/>
                    <a:lstStyle/>
                    <a:p>
                      <a:pPr algn="l">
                        <a:lnSpc>
                          <a:spcPct val="108000"/>
                        </a:lnSpc>
                      </a:pPr>
                      <a:r>
                        <a:rPr lang="en-US" sz="1000" dirty="0">
                          <a:solidFill>
                            <a:srgbClr val="262626"/>
                          </a:solidFill>
                        </a:rPr>
                        <a:t>Student interests, skills, career goals, budget, and location may not be considered together.</a:t>
                      </a:r>
                    </a:p>
                  </a:txBody>
                  <a:tcPr marL="82296" marR="82296" anchor="ctr">
                    <a:solidFill>
                      <a:srgbClr val="F4F6F9"/>
                    </a:solidFill>
                  </a:tcPr>
                </a:tc>
                <a:tc>
                  <a:txBody>
                    <a:bodyPr/>
                    <a:lstStyle/>
                    <a:p>
                      <a:pPr algn="l">
                        <a:lnSpc>
                          <a:spcPct val="108000"/>
                        </a:lnSpc>
                      </a:pPr>
                      <a:r>
                        <a:rPr lang="en-US" sz="1000" dirty="0">
                          <a:solidFill>
                            <a:srgbClr val="262626"/>
                          </a:solidFill>
                        </a:rPr>
                        <a:t>Uses a </a:t>
                      </a:r>
                      <a:r>
                        <a:rPr lang="en-US" sz="1000" b="1" dirty="0">
                          <a:solidFill>
                            <a:srgbClr val="262626"/>
                          </a:solidFill>
                        </a:rPr>
                        <a:t>complete student profile</a:t>
                      </a:r>
                      <a:r>
                        <a:rPr lang="en-US" sz="1000" dirty="0">
                          <a:solidFill>
                            <a:srgbClr val="262626"/>
                          </a:solidFill>
                        </a:rPr>
                        <a:t> for personalized recommendations.</a:t>
                      </a:r>
                    </a:p>
                  </a:txBody>
                  <a:tcPr marL="82296" marR="82296" anchor="ctr">
                    <a:solidFill>
                      <a:srgbClr val="F4F6F9"/>
                    </a:solidFill>
                  </a:tcPr>
                </a:tc>
                <a:extLst>
                  <a:ext uri="{0D108BD9-81ED-4DB2-BD59-A6C34878D82A}">
                    <a16:rowId xmlns:a16="http://schemas.microsoft.com/office/drawing/2014/main" val="10002"/>
                  </a:ext>
                </a:extLst>
              </a:tr>
              <a:tr h="780000">
                <a:tc>
                  <a:txBody>
                    <a:bodyPr/>
                    <a:lstStyle/>
                    <a:p>
                      <a:pPr algn="l">
                        <a:lnSpc>
                          <a:spcPct val="108000"/>
                        </a:lnSpc>
                      </a:pPr>
                      <a:r>
                        <a:rPr lang="en-US" sz="1000" dirty="0">
                          <a:solidFill>
                            <a:srgbClr val="262626"/>
                          </a:solidFill>
                        </a:rPr>
                        <a:t>Some research focuses only on specific areas, such as engineering or computing.</a:t>
                      </a:r>
                    </a:p>
                  </a:txBody>
                  <a:tcPr marL="82296" marR="82296" anchor="ctr">
                    <a:solidFill>
                      <a:srgbClr val="FFFFFF"/>
                    </a:solidFill>
                  </a:tcPr>
                </a:tc>
                <a:tc>
                  <a:txBody>
                    <a:bodyPr/>
                    <a:lstStyle/>
                    <a:p>
                      <a:pPr algn="l">
                        <a:lnSpc>
                          <a:spcPct val="108000"/>
                        </a:lnSpc>
                      </a:pPr>
                      <a:r>
                        <a:rPr lang="en-US" sz="1000" dirty="0">
                          <a:solidFill>
                            <a:srgbClr val="262626"/>
                          </a:solidFill>
                        </a:rPr>
                        <a:t>Limited coverage of different academic fields and programs.</a:t>
                      </a:r>
                    </a:p>
                  </a:txBody>
                  <a:tcPr marL="82296" marR="82296" anchor="ctr">
                    <a:solidFill>
                      <a:srgbClr val="FFFFFF"/>
                    </a:solidFill>
                  </a:tcPr>
                </a:tc>
                <a:tc>
                  <a:txBody>
                    <a:bodyPr/>
                    <a:lstStyle/>
                    <a:p>
                      <a:pPr algn="l">
                        <a:lnSpc>
                          <a:spcPct val="108000"/>
                        </a:lnSpc>
                      </a:pPr>
                      <a:r>
                        <a:rPr lang="en-US" sz="1000" dirty="0">
                          <a:solidFill>
                            <a:srgbClr val="262626"/>
                          </a:solidFill>
                        </a:rPr>
                        <a:t>Designed for </a:t>
                      </a:r>
                      <a:r>
                        <a:rPr lang="en-US" sz="1000" b="1" dirty="0">
                          <a:solidFill>
                            <a:srgbClr val="262626"/>
                          </a:solidFill>
                        </a:rPr>
                        <a:t>multiple academic fields and programs</a:t>
                      </a:r>
                      <a:r>
                        <a:rPr lang="en-US" sz="1000" dirty="0">
                          <a:solidFill>
                            <a:srgbClr val="262626"/>
                          </a:solidFill>
                        </a:rPr>
                        <a:t>.</a:t>
                      </a:r>
                    </a:p>
                  </a:txBody>
                  <a:tcPr marL="82296" marR="82296" anchor="ctr">
                    <a:solidFill>
                      <a:srgbClr val="FFFFFF"/>
                    </a:solidFill>
                  </a:tcPr>
                </a:tc>
                <a:extLst>
                  <a:ext uri="{0D108BD9-81ED-4DB2-BD59-A6C34878D82A}">
                    <a16:rowId xmlns:a16="http://schemas.microsoft.com/office/drawing/2014/main" val="10003"/>
                  </a:ext>
                </a:extLst>
              </a:tr>
              <a:tr h="850000">
                <a:tc>
                  <a:txBody>
                    <a:bodyPr/>
                    <a:lstStyle/>
                    <a:p>
                      <a:pPr algn="l">
                        <a:lnSpc>
                          <a:spcPct val="108000"/>
                        </a:lnSpc>
                      </a:pPr>
                      <a:r>
                        <a:rPr lang="en-US" sz="1000" dirty="0">
                          <a:solidFill>
                            <a:srgbClr val="262626"/>
                          </a:solidFill>
                        </a:rPr>
                        <a:t>University selection approaches use MCDM/TOPSIS to rank alternatives.</a:t>
                      </a:r>
                    </a:p>
                  </a:txBody>
                  <a:tcPr marL="82296" marR="82296" anchor="ctr">
                    <a:solidFill>
                      <a:srgbClr val="F4F6F9"/>
                    </a:solidFill>
                  </a:tcPr>
                </a:tc>
                <a:tc>
                  <a:txBody>
                    <a:bodyPr/>
                    <a:lstStyle/>
                    <a:p>
                      <a:pPr algn="l">
                        <a:lnSpc>
                          <a:spcPct val="108000"/>
                        </a:lnSpc>
                      </a:pPr>
                      <a:r>
                        <a:rPr lang="en-US" sz="1000" dirty="0">
                          <a:solidFill>
                            <a:srgbClr val="262626"/>
                          </a:solidFill>
                        </a:rPr>
                        <a:t>They do not necessarily connect university ranking with personalized field and program recommendations.</a:t>
                      </a:r>
                    </a:p>
                  </a:txBody>
                  <a:tcPr marL="82296" marR="82296" anchor="ctr">
                    <a:solidFill>
                      <a:srgbClr val="F4F6F9"/>
                    </a:solidFill>
                  </a:tcPr>
                </a:tc>
                <a:tc>
                  <a:txBody>
                    <a:bodyPr/>
                    <a:lstStyle/>
                    <a:p>
                      <a:pPr algn="l">
                        <a:lnSpc>
                          <a:spcPct val="108000"/>
                        </a:lnSpc>
                      </a:pPr>
                      <a:r>
                        <a:rPr lang="en-US" sz="1000" dirty="0">
                          <a:solidFill>
                            <a:srgbClr val="262626"/>
                          </a:solidFill>
                        </a:rPr>
                        <a:t>University ranking is performed </a:t>
                      </a:r>
                      <a:r>
                        <a:rPr lang="en-US" sz="1000" b="1" dirty="0">
                          <a:solidFill>
                            <a:srgbClr val="262626"/>
                          </a:solidFill>
                        </a:rPr>
                        <a:t>after program recommendation</a:t>
                      </a:r>
                      <a:r>
                        <a:rPr lang="en-US" sz="1000" dirty="0">
                          <a:solidFill>
                            <a:srgbClr val="262626"/>
                          </a:solidFill>
                        </a:rPr>
                        <a:t> and based on student-specific criteria.</a:t>
                      </a:r>
                    </a:p>
                  </a:txBody>
                  <a:tcPr marL="82296" marR="82296" anchor="ctr">
                    <a:solidFill>
                      <a:srgbClr val="F4F6F9"/>
                    </a:solidFill>
                  </a:tcPr>
                </a:tc>
                <a:extLst>
                  <a:ext uri="{0D108BD9-81ED-4DB2-BD59-A6C34878D82A}">
                    <a16:rowId xmlns:a16="http://schemas.microsoft.com/office/drawing/2014/main" val="10004"/>
                  </a:ext>
                </a:extLst>
              </a:tr>
              <a:tr h="780000">
                <a:tc>
                  <a:txBody>
                    <a:bodyPr/>
                    <a:lstStyle/>
                    <a:p>
                      <a:pPr algn="l">
                        <a:lnSpc>
                          <a:spcPct val="108000"/>
                        </a:lnSpc>
                      </a:pPr>
                      <a:r>
                        <a:rPr lang="en-US" sz="1000" dirty="0">
                          <a:solidFill>
                            <a:srgbClr val="262626"/>
                          </a:solidFill>
                        </a:rPr>
                        <a:t>Existing systems often solve only one part of the academic decision process.</a:t>
                      </a:r>
                    </a:p>
                  </a:txBody>
                  <a:tcPr marL="82296" marR="82296" anchor="ctr">
                    <a:solidFill>
                      <a:srgbClr val="FFFFFF"/>
                    </a:solidFill>
                  </a:tcPr>
                </a:tc>
                <a:tc>
                  <a:txBody>
                    <a:bodyPr/>
                    <a:lstStyle/>
                    <a:p>
                      <a:pPr algn="l">
                        <a:lnSpc>
                          <a:spcPct val="108000"/>
                        </a:lnSpc>
                      </a:pPr>
                      <a:r>
                        <a:rPr lang="en-US" sz="1000" dirty="0">
                          <a:solidFill>
                            <a:srgbClr val="262626"/>
                          </a:solidFill>
                        </a:rPr>
                        <a:t>Field selection, program selection, and university selection are treated separately.</a:t>
                      </a:r>
                    </a:p>
                  </a:txBody>
                  <a:tcPr marL="82296" marR="82296" anchor="ctr">
                    <a:solidFill>
                      <a:srgbClr val="FFFFFF"/>
                    </a:solidFill>
                  </a:tcPr>
                </a:tc>
                <a:tc>
                  <a:txBody>
                    <a:bodyPr/>
                    <a:lstStyle/>
                    <a:p>
                      <a:pPr algn="l">
                        <a:lnSpc>
                          <a:spcPct val="108000"/>
                        </a:lnSpc>
                      </a:pPr>
                      <a:r>
                        <a:rPr lang="en-US" sz="1000" dirty="0">
                          <a:solidFill>
                            <a:srgbClr val="262626"/>
                          </a:solidFill>
                        </a:rPr>
                        <a:t>Integrates the </a:t>
                      </a:r>
                      <a:r>
                        <a:rPr lang="en-US" sz="1000" b="1" dirty="0">
                          <a:solidFill>
                            <a:srgbClr val="262626"/>
                          </a:solidFill>
                        </a:rPr>
                        <a:t>three decision levels into one system</a:t>
                      </a:r>
                      <a:r>
                        <a:rPr lang="en-US" sz="1000" dirty="0">
                          <a:solidFill>
                            <a:srgbClr val="262626"/>
                          </a:solidFill>
                        </a:rPr>
                        <a:t>.</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PROBLEM STATEMENT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457200" y="141902"/>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Problem Statement</a:t>
            </a:r>
          </a:p>
        </p:txBody>
      </p:sp>
      <p:sp>
        <p:nvSpPr>
          <p:cNvPr id="300" name="Card 300"/>
          <p:cNvSpPr/>
          <p:nvPr/>
        </p:nvSpPr>
        <p:spPr>
          <a:xfrm>
            <a:off x="457200" y="1467464"/>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Students completing intermediate education face difficulty in choosing the right academic field, degree program, and university.</a:t>
            </a:r>
          </a:p>
        </p:txBody>
      </p:sp>
      <p:sp>
        <p:nvSpPr>
          <p:cNvPr id="301" name="Card 301"/>
          <p:cNvSpPr/>
          <p:nvPr/>
        </p:nvSpPr>
        <p:spPr>
          <a:xfrm>
            <a:off x="457200" y="2131173"/>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The large number of available fields and programs makes the decision-making process confusing and time-consuming.</a:t>
            </a:r>
          </a:p>
        </p:txBody>
      </p:sp>
      <p:sp>
        <p:nvSpPr>
          <p:cNvPr id="302" name="Card 302"/>
          <p:cNvSpPr/>
          <p:nvPr/>
        </p:nvSpPr>
        <p:spPr>
          <a:xfrm>
            <a:off x="457200" y="2794882"/>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Students have different academic backgrounds, grades, interests, skills, career goals, budgets, and location preferences.</a:t>
            </a:r>
          </a:p>
        </p:txBody>
      </p:sp>
      <p:sp>
        <p:nvSpPr>
          <p:cNvPr id="303" name="Card 303"/>
          <p:cNvSpPr/>
          <p:nvPr/>
        </p:nvSpPr>
        <p:spPr>
          <a:xfrm>
            <a:off x="457200" y="3458591"/>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Existing guidance approaches often do not consider all these factors together for an individual student.</a:t>
            </a:r>
          </a:p>
        </p:txBody>
      </p:sp>
      <p:sp>
        <p:nvSpPr>
          <p:cNvPr id="304" name="Card 304"/>
          <p:cNvSpPr/>
          <p:nvPr/>
        </p:nvSpPr>
        <p:spPr>
          <a:xfrm>
            <a:off x="457200" y="4122300"/>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Students may struggle to determine whether they are eligible for a particular program or university.</a:t>
            </a:r>
          </a:p>
        </p:txBody>
      </p:sp>
      <p:sp>
        <p:nvSpPr>
          <p:cNvPr id="305" name="Card 305"/>
          <p:cNvSpPr/>
          <p:nvPr/>
        </p:nvSpPr>
        <p:spPr>
          <a:xfrm>
            <a:off x="457200" y="4786009"/>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Finding universities that offer the desired program while also meeting the student’s eligibility, budget, location, and other requirements requires searching through information from multiple sources.</a:t>
            </a:r>
          </a:p>
        </p:txBody>
      </p:sp>
      <p:sp>
        <p:nvSpPr>
          <p:cNvPr id="306" name="Card 306"/>
          <p:cNvSpPr/>
          <p:nvPr/>
        </p:nvSpPr>
        <p:spPr>
          <a:xfrm>
            <a:off x="457200" y="5449718"/>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As a result, students may make academic decisions based on limited information, personal assumptions, or general recommendations rather than their individual requirements.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PROPOSED SOLUTION AND METHODOLOGY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Proposed Solution</a:t>
            </a:r>
          </a:p>
        </p:txBody>
      </p:sp>
      <p:sp>
        <p:nvSpPr>
          <p:cNvPr id="158" name="Google Shape;158;p11"/>
          <p:cNvSpPr txBox="1">
            <a:spLocks noGrp="1"/>
          </p:cNvSpPr>
          <p:nvPr>
            <p:ph type="body" idx="1"/>
          </p:nvPr>
        </p:nvSpPr>
        <p:spPr>
          <a:xfrm>
            <a:off x="457200" y="1417638"/>
            <a:ext cx="8229600" cy="4525963"/>
          </a:xfrm>
          <a:prstGeom prst="rect">
            <a:avLst/>
          </a:prstGeom>
          <a:noFill/>
          <a:ln>
            <a:noFill/>
          </a:ln>
        </p:spPr>
        <p:txBody>
          <a:bodyPr spcFirstLastPara="1" wrap="square" lIns="91425" tIns="45700" rIns="91425" bIns="45700" anchor="t" anchorCtr="0">
            <a:noAutofit/>
          </a:bodyPr>
          <a:lstStyle/>
          <a:p>
            <a:pPr marL="0" indent="0" algn="l">
              <a:lnSpc>
                <a:spcPct val="115000"/>
              </a:lnSpc>
              <a:spcAft>
                <a:spcPts val="500"/>
              </a:spcAft>
              <a:buNone/>
            </a:pPr>
            <a:r>
              <a:rPr lang="en-US" sz="1400" b="1" dirty="0">
                <a:solidFill>
                  <a:schemeClr val="tx1"/>
                </a:solidFill>
              </a:rPr>
              <a:t>Develop an AI-based personalized recommendation system for higher-education decisions.</a:t>
            </a:r>
          </a:p>
          <a:p>
            <a:pPr marL="228600" lvl="0" indent="-228600" algn="l">
              <a:lnSpc>
                <a:spcPct val="110000"/>
              </a:lnSpc>
              <a:spcAft>
                <a:spcPts val="200"/>
              </a:spcAft>
              <a:buClr>
                <a:srgbClr val="193B69"/>
              </a:buClr>
              <a:buFont typeface="Arial"/>
              <a:buChar char="•"/>
            </a:pPr>
            <a:r>
              <a:rPr lang="en-US" sz="1200" b="1" dirty="0">
                <a:solidFill>
                  <a:schemeClr val="tx1"/>
                </a:solidFill>
              </a:rPr>
              <a:t>Collect the students:</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Academic information</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Subjects and grades</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Interests and skills</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Career goals</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Budget</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Preferred location</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Other personal preferences</a:t>
            </a:r>
          </a:p>
          <a:p>
            <a:pPr marL="228600" lvl="0" indent="-228600" algn="l">
              <a:lnSpc>
                <a:spcPct val="110000"/>
              </a:lnSpc>
              <a:spcAft>
                <a:spcPts val="200"/>
              </a:spcAft>
              <a:buClr>
                <a:srgbClr val="193B69"/>
              </a:buClr>
              <a:buFont typeface="Arial"/>
              <a:buChar char="•"/>
            </a:pPr>
            <a:r>
              <a:rPr lang="en-US" sz="1200" dirty="0">
                <a:solidFill>
                  <a:schemeClr val="tx1"/>
                </a:solidFill>
              </a:rPr>
              <a:t>Use NLP to understand information provided by the student in their own words.</a:t>
            </a:r>
          </a:p>
          <a:p>
            <a:pPr marL="228600" lvl="0" indent="-228600" algn="l">
              <a:lnSpc>
                <a:spcPct val="110000"/>
              </a:lnSpc>
              <a:spcAft>
                <a:spcPts val="200"/>
              </a:spcAft>
              <a:buClr>
                <a:srgbClr val="193B69"/>
              </a:buClr>
              <a:buFont typeface="Arial"/>
              <a:buChar char="•"/>
            </a:pPr>
            <a:r>
              <a:rPr lang="en-US" sz="1200" dirty="0">
                <a:solidFill>
                  <a:schemeClr val="tx1"/>
                </a:solidFill>
              </a:rPr>
              <a:t>Provide recommendations at three levels:</a:t>
            </a:r>
          </a:p>
          <a:p>
            <a:pPr marL="571500" lvl="1" indent="-228600" algn="l">
              <a:lnSpc>
                <a:spcPct val="110000"/>
              </a:lnSpc>
              <a:spcAft>
                <a:spcPts val="300"/>
              </a:spcAft>
              <a:buClr>
                <a:srgbClr val="193B69"/>
              </a:buClr>
              <a:buFont typeface="+mj-lt"/>
              <a:buAutoNum type="arabicPeriod"/>
            </a:pPr>
            <a:r>
              <a:rPr lang="en-US" sz="1200" dirty="0">
                <a:solidFill>
                  <a:schemeClr val="tx1"/>
                </a:solidFill>
              </a:rPr>
              <a:t>Academic Field</a:t>
            </a:r>
          </a:p>
          <a:p>
            <a:pPr marL="571500" lvl="1" indent="-228600" algn="l">
              <a:lnSpc>
                <a:spcPct val="110000"/>
              </a:lnSpc>
              <a:spcAft>
                <a:spcPts val="300"/>
              </a:spcAft>
              <a:buClr>
                <a:srgbClr val="193B69"/>
              </a:buClr>
              <a:buFont typeface="+mj-lt"/>
              <a:buAutoNum type="arabicPeriod"/>
            </a:pPr>
            <a:r>
              <a:rPr lang="en-US" sz="1200" dirty="0">
                <a:solidFill>
                  <a:schemeClr val="tx1"/>
                </a:solidFill>
              </a:rPr>
              <a:t>Degree Program</a:t>
            </a:r>
          </a:p>
          <a:p>
            <a:pPr marL="571500" lvl="1" indent="-228600" algn="l">
              <a:lnSpc>
                <a:spcPct val="110000"/>
              </a:lnSpc>
              <a:spcAft>
                <a:spcPts val="300"/>
              </a:spcAft>
              <a:buClr>
                <a:srgbClr val="193B69"/>
              </a:buClr>
              <a:buFont typeface="+mj-lt"/>
              <a:buAutoNum type="arabicPeriod"/>
            </a:pPr>
            <a:r>
              <a:rPr lang="en-US" sz="1200" dirty="0">
                <a:solidFill>
                  <a:schemeClr val="tx1"/>
                </a:solidFill>
              </a:rPr>
              <a:t>University</a:t>
            </a:r>
          </a:p>
          <a:p>
            <a:pPr marL="228600" lvl="0" indent="-228600" algn="l">
              <a:lnSpc>
                <a:spcPct val="110000"/>
              </a:lnSpc>
              <a:spcAft>
                <a:spcPts val="0"/>
              </a:spcAft>
              <a:buClr>
                <a:srgbClr val="193B69"/>
              </a:buClr>
              <a:buFont typeface="Arial"/>
              <a:buChar char="•"/>
            </a:pPr>
            <a:r>
              <a:rPr lang="en-US" sz="1200" dirty="0">
                <a:solidFill>
                  <a:schemeClr val="tx1"/>
                </a:solidFill>
              </a:rPr>
              <a:t>Personalize the recommendations according to the student’s individual requirements.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80" name="Title"/>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Methodology</a:t>
            </a:r>
          </a:p>
        </p:txBody>
      </p:sp>
      <p:sp>
        <p:nvSpPr>
          <p:cNvPr id="181" name="MethodLeft"/>
          <p:cNvSpPr txBox="1"/>
          <p:nvPr/>
        </p:nvSpPr>
        <p:spPr>
          <a:xfrm>
            <a:off x="457199" y="1549999"/>
            <a:ext cx="3900000" cy="4576163"/>
          </a:xfrm>
          <a:prstGeom prst="rect">
            <a:avLst/>
          </a:prstGeom>
          <a:noFill/>
          <a:ln>
            <a:noFill/>
          </a:ln>
        </p:spPr>
        <p:txBody>
          <a:bodyPr wrap="square" lIns="0" tIns="0" rIns="91440" bIns="0" anchor="t" anchorCtr="0">
            <a:noAutofit/>
          </a:bodyPr>
          <a:lstStyle/>
          <a:p>
            <a:pPr>
              <a:lnSpc>
                <a:spcPct val="105000"/>
              </a:lnSpc>
              <a:spcBef>
                <a:spcPts val="200"/>
              </a:spcBef>
              <a:spcAft>
                <a:spcPts val="50"/>
              </a:spcAft>
            </a:pPr>
            <a:r>
              <a:rPr lang="en-US" sz="1100" b="1" dirty="0">
                <a:solidFill>
                  <a:schemeClr val="tx1"/>
                </a:solidFill>
              </a:rPr>
              <a:t>Step 1  Student Profile &amp; Information Collection</a:t>
            </a:r>
          </a:p>
          <a:p>
            <a:pPr>
              <a:lnSpc>
                <a:spcPct val="105000"/>
              </a:lnSpc>
              <a:spcBef>
                <a:spcPts val="200"/>
              </a:spcBef>
              <a:spcAft>
                <a:spcPts val="50"/>
              </a:spcAft>
            </a:pPr>
            <a:r>
              <a:rPr lang="en-US" sz="1100" dirty="0">
                <a:solidFill>
                  <a:schemeClr val="tx1"/>
                </a:solidFill>
              </a:rPr>
              <a:t>The student provides academic, personal, skills, interests, career goals, budget, location, and university preferences through structured, voice, or text-based input.</a:t>
            </a:r>
          </a:p>
          <a:p>
            <a:pPr algn="ctr">
              <a:lnSpc>
                <a:spcPct val="105000"/>
              </a:lnSpc>
              <a:spcBef>
                <a:spcPts val="200"/>
              </a:spcBef>
              <a:spcAft>
                <a:spcPts val="50"/>
              </a:spcAft>
            </a:pPr>
            <a:r>
              <a:rPr lang="en-US" sz="1100" b="1" dirty="0">
                <a:solidFill>
                  <a:schemeClr val="tx1"/>
                </a:solidFill>
              </a:rPr>
              <a:t>↓</a:t>
            </a:r>
          </a:p>
          <a:p>
            <a:pPr>
              <a:lnSpc>
                <a:spcPct val="105000"/>
              </a:lnSpc>
              <a:spcBef>
                <a:spcPts val="200"/>
              </a:spcBef>
              <a:spcAft>
                <a:spcPts val="50"/>
              </a:spcAft>
            </a:pPr>
            <a:r>
              <a:rPr lang="en-US" sz="1100" b="1" dirty="0">
                <a:solidFill>
                  <a:schemeClr val="tx1"/>
                </a:solidFill>
              </a:rPr>
              <a:t>Step 2  NLP, Speech-to-Text &amp; Adaptive Questioning</a:t>
            </a:r>
          </a:p>
          <a:p>
            <a:pPr>
              <a:lnSpc>
                <a:spcPct val="105000"/>
              </a:lnSpc>
              <a:spcBef>
                <a:spcPts val="200"/>
              </a:spcBef>
              <a:spcAft>
                <a:spcPts val="50"/>
              </a:spcAft>
            </a:pPr>
            <a:r>
              <a:rPr lang="en-US" sz="1100" dirty="0">
                <a:solidFill>
                  <a:schemeClr val="tx1"/>
                </a:solidFill>
              </a:rPr>
              <a:t>The system converts voice responses into text and uses NLP to understand the student’s responses. Based on previous answers, the system dynamically asks relevant follow-up questions to build a more complete profile.</a:t>
            </a:r>
          </a:p>
          <a:p>
            <a:pPr algn="ctr">
              <a:lnSpc>
                <a:spcPct val="105000"/>
              </a:lnSpc>
              <a:spcBef>
                <a:spcPts val="200"/>
              </a:spcBef>
              <a:spcAft>
                <a:spcPts val="50"/>
              </a:spcAft>
            </a:pPr>
            <a:r>
              <a:rPr lang="en-US" sz="1100" b="1" dirty="0">
                <a:solidFill>
                  <a:schemeClr val="tx1"/>
                </a:solidFill>
              </a:rPr>
              <a:t>↓</a:t>
            </a:r>
          </a:p>
          <a:p>
            <a:pPr>
              <a:lnSpc>
                <a:spcPct val="105000"/>
              </a:lnSpc>
              <a:spcBef>
                <a:spcPts val="200"/>
              </a:spcBef>
              <a:spcAft>
                <a:spcPts val="50"/>
              </a:spcAft>
            </a:pPr>
            <a:r>
              <a:rPr lang="en-US" sz="1100" b="1" dirty="0">
                <a:solidFill>
                  <a:schemeClr val="tx1"/>
                </a:solidFill>
              </a:rPr>
              <a:t>Step 3  Student Profile Generation</a:t>
            </a:r>
          </a:p>
          <a:p>
            <a:pPr>
              <a:lnSpc>
                <a:spcPct val="105000"/>
              </a:lnSpc>
              <a:spcBef>
                <a:spcPts val="200"/>
              </a:spcBef>
              <a:spcAft>
                <a:spcPts val="50"/>
              </a:spcAft>
            </a:pPr>
            <a:r>
              <a:rPr lang="en-US" sz="1100" dirty="0">
                <a:solidFill>
                  <a:schemeClr val="tx1"/>
                </a:solidFill>
              </a:rPr>
              <a:t>The system processes the collected information and generates a structured student profile containing academic performance, skills, interests, career goals, preferences, and other relevant characteristics.</a:t>
            </a:r>
          </a:p>
          <a:p>
            <a:pPr algn="ctr">
              <a:lnSpc>
                <a:spcPct val="105000"/>
              </a:lnSpc>
              <a:spcBef>
                <a:spcPts val="200"/>
              </a:spcBef>
              <a:spcAft>
                <a:spcPts val="50"/>
              </a:spcAft>
            </a:pPr>
            <a:r>
              <a:rPr lang="en-US" sz="1100" b="1" dirty="0">
                <a:solidFill>
                  <a:schemeClr val="tx1"/>
                </a:solidFill>
              </a:rPr>
              <a:t>↓</a:t>
            </a:r>
          </a:p>
          <a:p>
            <a:pPr>
              <a:lnSpc>
                <a:spcPct val="105000"/>
              </a:lnSpc>
              <a:spcBef>
                <a:spcPts val="200"/>
              </a:spcBef>
              <a:spcAft>
                <a:spcPts val="50"/>
              </a:spcAft>
            </a:pPr>
            <a:r>
              <a:rPr lang="en-US" sz="1100" b="1" dirty="0">
                <a:solidFill>
                  <a:schemeClr val="tx1"/>
                </a:solidFill>
              </a:rPr>
              <a:t>Step 4  Academic Field Recommendation</a:t>
            </a:r>
          </a:p>
          <a:p>
            <a:pPr>
              <a:lnSpc>
                <a:spcPct val="105000"/>
              </a:lnSpc>
              <a:spcBef>
                <a:spcPts val="200"/>
              </a:spcBef>
              <a:spcAft>
                <a:spcPts val="50"/>
              </a:spcAft>
            </a:pPr>
            <a:r>
              <a:rPr lang="en-US" sz="1100" dirty="0">
                <a:solidFill>
                  <a:schemeClr val="tx1"/>
                </a:solidFill>
              </a:rPr>
              <a:t>A Machine Learning model analyzes the structured student profile and recommends the most suitable academic field(s) based on the student’s academic background, skills, interests, and goals.</a:t>
            </a:r>
          </a:p>
          <a:p>
            <a:pPr algn="ctr">
              <a:lnSpc>
                <a:spcPct val="105000"/>
              </a:lnSpc>
              <a:spcBef>
                <a:spcPts val="200"/>
              </a:spcBef>
              <a:spcAft>
                <a:spcPts val="50"/>
              </a:spcAft>
            </a:pPr>
            <a:r>
              <a:rPr lang="en-US" sz="1100" dirty="0">
                <a:solidFill>
                  <a:schemeClr val="tx1"/>
                </a:solidFill>
              </a:rPr>
              <a:t>↓</a:t>
            </a:r>
          </a:p>
          <a:p>
            <a:pPr>
              <a:lnSpc>
                <a:spcPct val="105000"/>
              </a:lnSpc>
              <a:spcBef>
                <a:spcPts val="200"/>
              </a:spcBef>
              <a:spcAft>
                <a:spcPts val="50"/>
              </a:spcAft>
            </a:pPr>
            <a:endParaRPr lang="en-US" sz="1100" dirty="0">
              <a:solidFill>
                <a:schemeClr val="tx1"/>
              </a:solidFill>
            </a:endParaRPr>
          </a:p>
          <a:p>
            <a:pPr>
              <a:lnSpc>
                <a:spcPct val="105000"/>
              </a:lnSpc>
              <a:spcBef>
                <a:spcPts val="200"/>
              </a:spcBef>
              <a:spcAft>
                <a:spcPts val="50"/>
              </a:spcAft>
            </a:pPr>
            <a:endParaRPr lang="en-US" sz="1100" dirty="0">
              <a:solidFill>
                <a:schemeClr val="tx1"/>
              </a:solidFill>
            </a:endParaRPr>
          </a:p>
        </p:txBody>
      </p:sp>
      <p:sp>
        <p:nvSpPr>
          <p:cNvPr id="182" name="MethodRight"/>
          <p:cNvSpPr txBox="1"/>
          <p:nvPr/>
        </p:nvSpPr>
        <p:spPr>
          <a:xfrm>
            <a:off x="4786802" y="1549999"/>
            <a:ext cx="3900000" cy="4576163"/>
          </a:xfrm>
          <a:prstGeom prst="rect">
            <a:avLst/>
          </a:prstGeom>
          <a:noFill/>
          <a:ln>
            <a:noFill/>
          </a:ln>
        </p:spPr>
        <p:txBody>
          <a:bodyPr wrap="square" lIns="91440" tIns="0" rIns="0" bIns="0" anchor="t" anchorCtr="0">
            <a:noAutofit/>
          </a:bodyPr>
          <a:lstStyle/>
          <a:p>
            <a:pPr>
              <a:lnSpc>
                <a:spcPct val="105000"/>
              </a:lnSpc>
              <a:spcBef>
                <a:spcPts val="200"/>
              </a:spcBef>
              <a:spcAft>
                <a:spcPts val="50"/>
              </a:spcAft>
            </a:pPr>
            <a:r>
              <a:rPr lang="en-US" sz="1100" b="1" dirty="0">
                <a:solidFill>
                  <a:schemeClr val="tx1"/>
                </a:solidFill>
              </a:rPr>
              <a:t>Step 5  Program Recommendation</a:t>
            </a:r>
          </a:p>
          <a:p>
            <a:pPr>
              <a:lnSpc>
                <a:spcPct val="105000"/>
              </a:lnSpc>
              <a:spcBef>
                <a:spcPts val="200"/>
              </a:spcBef>
              <a:spcAft>
                <a:spcPts val="50"/>
              </a:spcAft>
            </a:pPr>
            <a:r>
              <a:rPr lang="en-US" sz="1100" dirty="0">
                <a:solidFill>
                  <a:schemeClr val="tx1"/>
                </a:solidFill>
              </a:rPr>
              <a:t>Using an LLM with Retrieval-Augmented Generation (RAG), the system matches the recommended academic field with relevant degree programs from the University &amp; Program Knowledge Base.</a:t>
            </a:r>
          </a:p>
          <a:p>
            <a:pPr algn="ctr">
              <a:lnSpc>
                <a:spcPct val="105000"/>
              </a:lnSpc>
              <a:spcBef>
                <a:spcPts val="200"/>
              </a:spcBef>
              <a:spcAft>
                <a:spcPts val="50"/>
              </a:spcAft>
            </a:pPr>
            <a:r>
              <a:rPr lang="en-US" sz="1100" b="1" dirty="0">
                <a:solidFill>
                  <a:schemeClr val="tx1"/>
                </a:solidFill>
              </a:rPr>
              <a:t>↓</a:t>
            </a:r>
          </a:p>
          <a:p>
            <a:pPr>
              <a:lnSpc>
                <a:spcPct val="105000"/>
              </a:lnSpc>
              <a:spcBef>
                <a:spcPts val="200"/>
              </a:spcBef>
              <a:spcAft>
                <a:spcPts val="50"/>
              </a:spcAft>
            </a:pPr>
            <a:r>
              <a:rPr lang="en-US" sz="1100" b="1" dirty="0">
                <a:solidFill>
                  <a:schemeClr val="tx1"/>
                </a:solidFill>
              </a:rPr>
              <a:t>Step 6  University Filtering</a:t>
            </a:r>
          </a:p>
          <a:p>
            <a:pPr>
              <a:lnSpc>
                <a:spcPct val="105000"/>
              </a:lnSpc>
              <a:spcBef>
                <a:spcPts val="200"/>
              </a:spcBef>
              <a:spcAft>
                <a:spcPts val="50"/>
              </a:spcAft>
            </a:pPr>
            <a:r>
              <a:rPr lang="en-US" sz="1100" dirty="0">
                <a:solidFill>
                  <a:schemeClr val="tx1"/>
                </a:solidFill>
              </a:rPr>
              <a:t>The system filters universities according to program availability, eligibility requirements, budget, location, scholarships, and the student’s individual university preferences.</a:t>
            </a:r>
          </a:p>
          <a:p>
            <a:pPr algn="ctr">
              <a:lnSpc>
                <a:spcPct val="105000"/>
              </a:lnSpc>
              <a:spcBef>
                <a:spcPts val="200"/>
              </a:spcBef>
              <a:spcAft>
                <a:spcPts val="50"/>
              </a:spcAft>
            </a:pPr>
            <a:r>
              <a:rPr lang="en-US" sz="1100" b="1" dirty="0">
                <a:solidFill>
                  <a:schemeClr val="tx1"/>
                </a:solidFill>
              </a:rPr>
              <a:t>↓</a:t>
            </a:r>
          </a:p>
          <a:p>
            <a:pPr>
              <a:lnSpc>
                <a:spcPct val="105000"/>
              </a:lnSpc>
              <a:spcBef>
                <a:spcPts val="200"/>
              </a:spcBef>
              <a:spcAft>
                <a:spcPts val="50"/>
              </a:spcAft>
            </a:pPr>
            <a:r>
              <a:rPr lang="en-US" sz="1100" b="1" dirty="0">
                <a:solidFill>
                  <a:schemeClr val="tx1"/>
                </a:solidFill>
              </a:rPr>
              <a:t>Step 7  Personalized University Ranking</a:t>
            </a:r>
          </a:p>
          <a:p>
            <a:pPr>
              <a:lnSpc>
                <a:spcPct val="105000"/>
              </a:lnSpc>
              <a:spcBef>
                <a:spcPts val="200"/>
              </a:spcBef>
              <a:spcAft>
                <a:spcPts val="50"/>
              </a:spcAft>
            </a:pPr>
            <a:r>
              <a:rPr lang="en-US" sz="1100" dirty="0">
                <a:solidFill>
                  <a:schemeClr val="tx1"/>
                </a:solidFill>
              </a:rPr>
              <a:t>MCDM/TOPSIS is used to rank the eligible universities according to the student’s individual priorities and assigned criteria weights.</a:t>
            </a:r>
          </a:p>
          <a:p>
            <a:pPr algn="ctr">
              <a:lnSpc>
                <a:spcPct val="105000"/>
              </a:lnSpc>
              <a:spcBef>
                <a:spcPts val="200"/>
              </a:spcBef>
              <a:spcAft>
                <a:spcPts val="50"/>
              </a:spcAft>
            </a:pPr>
            <a:r>
              <a:rPr lang="en-US" sz="1100" b="1" dirty="0">
                <a:solidFill>
                  <a:schemeClr val="tx1"/>
                </a:solidFill>
              </a:rPr>
              <a:t>↓</a:t>
            </a:r>
          </a:p>
          <a:p>
            <a:pPr>
              <a:lnSpc>
                <a:spcPct val="105000"/>
              </a:lnSpc>
              <a:spcBef>
                <a:spcPts val="200"/>
              </a:spcBef>
              <a:spcAft>
                <a:spcPts val="50"/>
              </a:spcAft>
            </a:pPr>
            <a:r>
              <a:rPr lang="en-US" sz="1100" b="1" dirty="0">
                <a:solidFill>
                  <a:schemeClr val="tx1"/>
                </a:solidFill>
              </a:rPr>
              <a:t>Step 8  Personalized Final Recommendation</a:t>
            </a:r>
          </a:p>
          <a:p>
            <a:pPr>
              <a:lnSpc>
                <a:spcPct val="105000"/>
              </a:lnSpc>
              <a:spcBef>
                <a:spcPts val="200"/>
              </a:spcBef>
              <a:spcAft>
                <a:spcPts val="50"/>
              </a:spcAft>
            </a:pPr>
            <a:r>
              <a:rPr lang="en-US" sz="1100" dirty="0">
                <a:solidFill>
                  <a:schemeClr val="tx1"/>
                </a:solidFill>
              </a:rPr>
              <a:t>The system presents the recommended academic field, suitable degree programs, ranked universities, and a brief explanation of why each recommendation matches the student’s profile and preferences.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23279489-7813-61C4-EE0A-A3D385EC1901}"/>
            </a:ext>
          </a:extLst>
        </p:cNvPr>
        <p:cNvGrpSpPr/>
        <p:nvPr/>
      </p:nvGrpSpPr>
      <p:grpSpPr>
        <a:xfrm>
          <a:off x="0" y="0"/>
          <a:ext cx="0" cy="0"/>
          <a:chOff x="0" y="0"/>
          <a:chExt cx="0" cy="0"/>
        </a:xfrm>
      </p:grpSpPr>
      <p:sp>
        <p:nvSpPr>
          <p:cNvPr id="190" name="Title">
            <a:extLst>
              <a:ext uri="{FF2B5EF4-FFF2-40B4-BE49-F238E27FC236}">
                <a16:creationId xmlns:a16="http://schemas.microsoft.com/office/drawing/2014/main" id="{1851AB5A-AFB7-A187-AAE0-7B79AC9A31C6}"/>
              </a:ext>
            </a:extLst>
          </p:cNvPr>
          <p:cNvSpPr txBox="1">
            <a:spLocks noGrp="1"/>
          </p:cNvSpPr>
          <p:nvPr>
            <p:ph type="title"/>
          </p:nvPr>
        </p:nvSpPr>
        <p:spPr>
          <a:xfrm>
            <a:off x="457200" y="137160"/>
            <a:ext cx="8229600" cy="850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Work-Flow Diagram</a:t>
            </a:r>
          </a:p>
        </p:txBody>
      </p:sp>
      <p:pic>
        <p:nvPicPr>
          <p:cNvPr id="3" name="Picture 2">
            <a:extLst>
              <a:ext uri="{FF2B5EF4-FFF2-40B4-BE49-F238E27FC236}">
                <a16:creationId xmlns:a16="http://schemas.microsoft.com/office/drawing/2014/main" id="{DFC82B44-00E5-948E-5B91-37810443A698}"/>
              </a:ext>
            </a:extLst>
          </p:cNvPr>
          <p:cNvPicPr>
            <a:picLocks noChangeAspect="1"/>
          </p:cNvPicPr>
          <p:nvPr/>
        </p:nvPicPr>
        <p:blipFill>
          <a:blip r:embed="rId2"/>
          <a:stretch>
            <a:fillRect/>
          </a:stretch>
        </p:blipFill>
        <p:spPr>
          <a:xfrm>
            <a:off x="0" y="857250"/>
            <a:ext cx="9144000" cy="5143500"/>
          </a:xfrm>
          <a:prstGeom prst="rect">
            <a:avLst/>
          </a:prstGeom>
        </p:spPr>
      </p:pic>
    </p:spTree>
    <p:extLst>
      <p:ext uri="{BB962C8B-B14F-4D97-AF65-F5344CB8AC3E}">
        <p14:creationId xmlns:p14="http://schemas.microsoft.com/office/powerpoint/2010/main" val="183329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PROJECT SCOPE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Project Scope</a:t>
            </a:r>
          </a:p>
        </p:txBody>
      </p:sp>
      <p:sp>
        <p:nvSpPr>
          <p:cNvPr id="170" name="Google Shape;170;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indent="0" algn="l">
              <a:lnSpc>
                <a:spcPct val="105000"/>
              </a:lnSpc>
              <a:spcBef>
                <a:spcPts val="0"/>
              </a:spcBef>
              <a:spcAft>
                <a:spcPts val="150"/>
              </a:spcAft>
              <a:buNone/>
            </a:pPr>
            <a:r>
              <a:rPr lang="en-US" sz="1600" b="1" dirty="0">
                <a:solidFill>
                  <a:schemeClr val="tx1"/>
                </a:solidFill>
              </a:rPr>
              <a:t>1. Student Profiling</a:t>
            </a:r>
          </a:p>
          <a:p>
            <a:pPr marL="228600" lvl="0" indent="-228600" algn="l">
              <a:lnSpc>
                <a:spcPct val="110000"/>
              </a:lnSpc>
              <a:spcAft>
                <a:spcPts val="100"/>
              </a:spcAft>
              <a:buClr>
                <a:srgbClr val="193B69"/>
              </a:buClr>
              <a:buFont typeface="Arial"/>
              <a:buChar char="•"/>
            </a:pPr>
            <a:r>
              <a:rPr lang="en-US" sz="1400" dirty="0">
                <a:solidFill>
                  <a:schemeClr val="tx1"/>
                </a:solidFill>
              </a:rPr>
              <a:t>Collect academic and personal information from students.</a:t>
            </a:r>
          </a:p>
          <a:p>
            <a:pPr marL="228600" lvl="0" indent="-228600" algn="l">
              <a:lnSpc>
                <a:spcPct val="110000"/>
              </a:lnSpc>
              <a:spcAft>
                <a:spcPts val="100"/>
              </a:spcAft>
              <a:buClr>
                <a:srgbClr val="193B69"/>
              </a:buClr>
              <a:buFont typeface="Arial"/>
              <a:buChar char="•"/>
            </a:pPr>
            <a:r>
              <a:rPr lang="en-US" sz="1400" dirty="0">
                <a:solidFill>
                  <a:schemeClr val="tx1"/>
                </a:solidFill>
              </a:rPr>
              <a:t>Include subjects, grades, interests, skills, career goals, budget, location, and preferences.</a:t>
            </a:r>
          </a:p>
          <a:p>
            <a:pPr marL="228600" lvl="0" indent="-228600" algn="l">
              <a:lnSpc>
                <a:spcPct val="110000"/>
              </a:lnSpc>
              <a:spcAft>
                <a:spcPts val="0"/>
              </a:spcAft>
              <a:buClr>
                <a:srgbClr val="193B69"/>
              </a:buClr>
              <a:buFont typeface="Arial"/>
              <a:buChar char="•"/>
            </a:pPr>
            <a:r>
              <a:rPr lang="en-US" sz="1400" dirty="0">
                <a:solidFill>
                  <a:schemeClr val="tx1"/>
                </a:solidFill>
              </a:rPr>
              <a:t>Allow students to describe their interests and goals in natural language.</a:t>
            </a:r>
          </a:p>
          <a:p>
            <a:pPr marL="0" indent="0" algn="l">
              <a:lnSpc>
                <a:spcPct val="105000"/>
              </a:lnSpc>
              <a:spcBef>
                <a:spcPts val="200"/>
              </a:spcBef>
              <a:spcAft>
                <a:spcPts val="150"/>
              </a:spcAft>
              <a:buNone/>
            </a:pPr>
            <a:r>
              <a:rPr lang="en-US" sz="1600" b="1" dirty="0">
                <a:solidFill>
                  <a:schemeClr val="tx1"/>
                </a:solidFill>
              </a:rPr>
              <a:t>2. Academic Field Recommendation</a:t>
            </a:r>
          </a:p>
          <a:p>
            <a:pPr marL="228600" lvl="0" indent="-228600" algn="l">
              <a:lnSpc>
                <a:spcPct val="110000"/>
              </a:lnSpc>
              <a:spcAft>
                <a:spcPts val="100"/>
              </a:spcAft>
              <a:buClr>
                <a:srgbClr val="193B69"/>
              </a:buClr>
              <a:buFont typeface="Arial"/>
              <a:buChar char="•"/>
            </a:pPr>
            <a:r>
              <a:rPr lang="en-US" sz="1400" dirty="0">
                <a:solidFill>
                  <a:schemeClr val="tx1"/>
                </a:solidFill>
              </a:rPr>
              <a:t>Analyze the student’s profile.</a:t>
            </a:r>
          </a:p>
          <a:p>
            <a:pPr marL="228600" lvl="0" indent="-228600" algn="l">
              <a:lnSpc>
                <a:spcPct val="110000"/>
              </a:lnSpc>
              <a:spcAft>
                <a:spcPts val="0"/>
              </a:spcAft>
              <a:buClr>
                <a:srgbClr val="193B69"/>
              </a:buClr>
              <a:buFont typeface="Arial"/>
              <a:buChar char="•"/>
            </a:pPr>
            <a:r>
              <a:rPr lang="en-US" sz="1400" dirty="0">
                <a:solidFill>
                  <a:schemeClr val="tx1"/>
                </a:solidFill>
              </a:rPr>
              <a:t>Recommend the most suitable academic field based on their characteristics.</a:t>
            </a:r>
          </a:p>
          <a:p>
            <a:pPr marL="0" indent="0" algn="l">
              <a:lnSpc>
                <a:spcPct val="105000"/>
              </a:lnSpc>
              <a:spcBef>
                <a:spcPts val="200"/>
              </a:spcBef>
              <a:spcAft>
                <a:spcPts val="150"/>
              </a:spcAft>
              <a:buNone/>
            </a:pPr>
            <a:r>
              <a:rPr lang="en-US" sz="1600" b="1" dirty="0">
                <a:solidFill>
                  <a:schemeClr val="tx1"/>
                </a:solidFill>
              </a:rPr>
              <a:t>3. Academic Program Recommendation</a:t>
            </a:r>
          </a:p>
          <a:p>
            <a:pPr marL="228600" lvl="0" indent="-228600" algn="l">
              <a:lnSpc>
                <a:spcPct val="110000"/>
              </a:lnSpc>
              <a:spcAft>
                <a:spcPts val="100"/>
              </a:spcAft>
              <a:buClr>
                <a:srgbClr val="193B69"/>
              </a:buClr>
              <a:buFont typeface="Arial"/>
              <a:buChar char="•"/>
            </a:pPr>
            <a:r>
              <a:rPr lang="en-US" sz="1400" dirty="0">
                <a:solidFill>
                  <a:schemeClr val="tx1"/>
                </a:solidFill>
              </a:rPr>
              <a:t>Recommend degree programs related to the identified field.</a:t>
            </a:r>
          </a:p>
          <a:p>
            <a:pPr marL="228600" lvl="0" indent="-228600" algn="l">
              <a:lnSpc>
                <a:spcPct val="110000"/>
              </a:lnSpc>
              <a:spcAft>
                <a:spcPts val="0"/>
              </a:spcAft>
              <a:buClr>
                <a:srgbClr val="193B69"/>
              </a:buClr>
              <a:buFont typeface="Arial"/>
              <a:buChar char="•"/>
            </a:pPr>
            <a:r>
              <a:rPr lang="en-US" sz="1400" dirty="0">
                <a:solidFill>
                  <a:schemeClr val="tx1"/>
                </a:solidFill>
              </a:rPr>
              <a:t>Rank programs according to their compatibility with the student’s profile.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95" name="Title"/>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Project Scope (cont’d)</a:t>
            </a:r>
          </a:p>
        </p:txBody>
      </p:sp>
      <p:sp>
        <p:nvSpPr>
          <p:cNvPr id="134" name="Google Shape;134;g2039867fdc9_0_16"/>
          <p:cNvSpPr txBox="1">
            <a:spLocks noGrp="1"/>
          </p:cNvSpPr>
          <p:nvPr>
            <p:ph type="body" idx="1"/>
          </p:nvPr>
        </p:nvSpPr>
        <p:spPr>
          <a:xfrm>
            <a:off x="457200" y="1600199"/>
            <a:ext cx="8229600" cy="4667865"/>
          </a:xfrm>
          <a:prstGeom prst="rect">
            <a:avLst/>
          </a:prstGeom>
          <a:noFill/>
          <a:ln>
            <a:noFill/>
          </a:ln>
        </p:spPr>
        <p:txBody>
          <a:bodyPr spcFirstLastPara="1" wrap="square" lIns="91425" tIns="45700" rIns="91425" bIns="45700" anchor="t" anchorCtr="0">
            <a:noAutofit/>
          </a:bodyPr>
          <a:lstStyle/>
          <a:p>
            <a:pPr marL="0" indent="0" algn="l">
              <a:lnSpc>
                <a:spcPct val="105000"/>
              </a:lnSpc>
              <a:spcBef>
                <a:spcPts val="0"/>
              </a:spcBef>
              <a:spcAft>
                <a:spcPts val="150"/>
              </a:spcAft>
              <a:buNone/>
            </a:pPr>
            <a:r>
              <a:rPr lang="en-US" sz="1600" b="1" dirty="0">
                <a:solidFill>
                  <a:schemeClr val="tx1"/>
                </a:solidFill>
              </a:rPr>
              <a:t>4. University Recommendation</a:t>
            </a:r>
          </a:p>
          <a:p>
            <a:pPr marL="228600" lvl="0" indent="-228600" algn="l">
              <a:lnSpc>
                <a:spcPct val="110000"/>
              </a:lnSpc>
              <a:spcAft>
                <a:spcPts val="100"/>
              </a:spcAft>
              <a:buClr>
                <a:srgbClr val="193B69"/>
              </a:buClr>
              <a:buFont typeface="Arial"/>
              <a:buChar char="•"/>
            </a:pPr>
            <a:r>
              <a:rPr lang="en-US" sz="1400" dirty="0">
                <a:solidFill>
                  <a:schemeClr val="tx1"/>
                </a:solidFill>
              </a:rPr>
              <a:t>Identify universities offering the recommended programs.</a:t>
            </a:r>
          </a:p>
          <a:p>
            <a:pPr marL="228600" lvl="0" indent="-228600" algn="l">
              <a:lnSpc>
                <a:spcPct val="110000"/>
              </a:lnSpc>
              <a:spcAft>
                <a:spcPts val="80"/>
              </a:spcAft>
              <a:buClr>
                <a:srgbClr val="193B69"/>
              </a:buClr>
              <a:buFont typeface="Arial"/>
              <a:buChar char="•"/>
            </a:pPr>
            <a:r>
              <a:rPr lang="en-US" sz="1400" dirty="0">
                <a:solidFill>
                  <a:schemeClr val="tx1"/>
                </a:solidFill>
              </a:rPr>
              <a:t>Filter universities according to:</a:t>
            </a:r>
          </a:p>
          <a:p>
            <a:pPr marL="571500" lvl="1" indent="-228600" algn="l">
              <a:lnSpc>
                <a:spcPct val="110000"/>
              </a:lnSpc>
              <a:spcAft>
                <a:spcPts val="60"/>
              </a:spcAft>
              <a:buClr>
                <a:srgbClr val="193B69"/>
              </a:buClr>
              <a:buFont typeface="+mj-lt"/>
              <a:buAutoNum type="alphaLcPeriod"/>
            </a:pPr>
            <a:r>
              <a:rPr lang="en-US" sz="1200" dirty="0">
                <a:solidFill>
                  <a:schemeClr val="tx1"/>
                </a:solidFill>
              </a:rPr>
              <a:t>Admission eligibility</a:t>
            </a:r>
          </a:p>
          <a:p>
            <a:pPr marL="571500" lvl="1" indent="-228600" algn="l">
              <a:lnSpc>
                <a:spcPct val="110000"/>
              </a:lnSpc>
              <a:spcAft>
                <a:spcPts val="60"/>
              </a:spcAft>
              <a:buClr>
                <a:srgbClr val="193B69"/>
              </a:buClr>
              <a:buFont typeface="+mj-lt"/>
              <a:buAutoNum type="alphaLcPeriod"/>
            </a:pPr>
            <a:r>
              <a:rPr lang="en-US" sz="1200" dirty="0">
                <a:solidFill>
                  <a:schemeClr val="tx1"/>
                </a:solidFill>
              </a:rPr>
              <a:t>Program availability</a:t>
            </a:r>
          </a:p>
          <a:p>
            <a:pPr marL="571500" lvl="1" indent="-228600" algn="l">
              <a:lnSpc>
                <a:spcPct val="110000"/>
              </a:lnSpc>
              <a:spcAft>
                <a:spcPts val="60"/>
              </a:spcAft>
              <a:buClr>
                <a:srgbClr val="193B69"/>
              </a:buClr>
              <a:buFont typeface="+mj-lt"/>
              <a:buAutoNum type="alphaLcPeriod"/>
            </a:pPr>
            <a:r>
              <a:rPr lang="en-US" sz="1200" dirty="0">
                <a:solidFill>
                  <a:schemeClr val="tx1"/>
                </a:solidFill>
              </a:rPr>
              <a:t>Location</a:t>
            </a:r>
          </a:p>
          <a:p>
            <a:pPr marL="571500" lvl="1" indent="-228600" algn="l">
              <a:lnSpc>
                <a:spcPct val="110000"/>
              </a:lnSpc>
              <a:spcAft>
                <a:spcPts val="60"/>
              </a:spcAft>
              <a:buClr>
                <a:srgbClr val="193B69"/>
              </a:buClr>
              <a:buFont typeface="+mj-lt"/>
              <a:buAutoNum type="alphaLcPeriod"/>
            </a:pPr>
            <a:r>
              <a:rPr lang="en-US" sz="1200" dirty="0">
                <a:solidFill>
                  <a:schemeClr val="tx1"/>
                </a:solidFill>
              </a:rPr>
              <a:t>Budget</a:t>
            </a:r>
          </a:p>
          <a:p>
            <a:pPr marL="571500" lvl="1" indent="-228600" algn="l">
              <a:lnSpc>
                <a:spcPct val="110000"/>
              </a:lnSpc>
              <a:spcAft>
                <a:spcPts val="60"/>
              </a:spcAft>
              <a:buClr>
                <a:srgbClr val="193B69"/>
              </a:buClr>
              <a:buFont typeface="+mj-lt"/>
              <a:buAutoNum type="alphaLcPeriod"/>
            </a:pPr>
            <a:r>
              <a:rPr lang="en-US" sz="1200" dirty="0">
                <a:solidFill>
                  <a:schemeClr val="tx1"/>
                </a:solidFill>
              </a:rPr>
              <a:t>University type</a:t>
            </a:r>
          </a:p>
          <a:p>
            <a:pPr marL="571500" lvl="1" indent="-228600" algn="l">
              <a:lnSpc>
                <a:spcPct val="110000"/>
              </a:lnSpc>
              <a:spcAft>
                <a:spcPts val="60"/>
              </a:spcAft>
              <a:buClr>
                <a:srgbClr val="193B69"/>
              </a:buClr>
              <a:buFont typeface="+mj-lt"/>
              <a:buAutoNum type="alphaLcPeriod"/>
            </a:pPr>
            <a:r>
              <a:rPr lang="en-US" sz="1200" dirty="0">
                <a:solidFill>
                  <a:schemeClr val="tx1"/>
                </a:solidFill>
              </a:rPr>
              <a:t>Scholarships</a:t>
            </a:r>
          </a:p>
          <a:p>
            <a:pPr marL="571500" lvl="1" indent="-228600" algn="l">
              <a:lnSpc>
                <a:spcPct val="110000"/>
              </a:lnSpc>
              <a:spcAft>
                <a:spcPts val="60"/>
              </a:spcAft>
              <a:buClr>
                <a:srgbClr val="193B69"/>
              </a:buClr>
              <a:buFont typeface="+mj-lt"/>
              <a:buAutoNum type="alphaLcPeriod"/>
            </a:pPr>
            <a:r>
              <a:rPr lang="en-US" sz="1200" dirty="0">
                <a:solidFill>
                  <a:schemeClr val="tx1"/>
                </a:solidFill>
              </a:rPr>
              <a:t>Other student preferences</a:t>
            </a:r>
          </a:p>
          <a:p>
            <a:pPr marL="228600" lvl="0" indent="-228600" algn="l">
              <a:lnSpc>
                <a:spcPct val="110000"/>
              </a:lnSpc>
              <a:spcAft>
                <a:spcPts val="0"/>
              </a:spcAft>
              <a:buClr>
                <a:srgbClr val="193B69"/>
              </a:buClr>
              <a:buFont typeface="Arial"/>
              <a:buChar char="•"/>
            </a:pPr>
            <a:r>
              <a:rPr lang="en-US" sz="1400" dirty="0">
                <a:solidFill>
                  <a:schemeClr val="tx1"/>
                </a:solidFill>
              </a:rPr>
              <a:t>Rank the remaining universities using MCDM/TOPSIS.</a:t>
            </a:r>
          </a:p>
          <a:p>
            <a:pPr marL="0" indent="0" algn="l">
              <a:lnSpc>
                <a:spcPct val="105000"/>
              </a:lnSpc>
              <a:spcBef>
                <a:spcPts val="200"/>
              </a:spcBef>
              <a:spcAft>
                <a:spcPts val="150"/>
              </a:spcAft>
              <a:buNone/>
            </a:pPr>
            <a:r>
              <a:rPr lang="en-US" sz="1600" b="1" dirty="0">
                <a:solidFill>
                  <a:schemeClr val="tx1"/>
                </a:solidFill>
              </a:rPr>
              <a:t>5. Personalized Results</a:t>
            </a:r>
          </a:p>
          <a:p>
            <a:pPr marL="228600" lvl="0" indent="-228600" algn="l">
              <a:lnSpc>
                <a:spcPct val="110000"/>
              </a:lnSpc>
              <a:spcAft>
                <a:spcPts val="100"/>
              </a:spcAft>
              <a:buClr>
                <a:srgbClr val="193B69"/>
              </a:buClr>
              <a:buFont typeface="Arial"/>
              <a:buChar char="•"/>
            </a:pPr>
            <a:r>
              <a:rPr lang="en-US" sz="1400" dirty="0">
                <a:solidFill>
                  <a:schemeClr val="tx1"/>
                </a:solidFill>
              </a:rPr>
              <a:t>Provide each student with recommendations based on their individual profile and requirements.</a:t>
            </a:r>
          </a:p>
          <a:p>
            <a:pPr marL="228600" lvl="0" indent="-228600" algn="l">
              <a:lnSpc>
                <a:spcPct val="110000"/>
              </a:lnSpc>
              <a:spcAft>
                <a:spcPts val="0"/>
              </a:spcAft>
              <a:buClr>
                <a:srgbClr val="193B69"/>
              </a:buClr>
              <a:buFont typeface="Arial"/>
              <a:buChar char="•"/>
            </a:pPr>
            <a:r>
              <a:rPr lang="en-US" sz="1400" dirty="0">
                <a:solidFill>
                  <a:schemeClr val="tx1"/>
                </a:solidFill>
              </a:rPr>
              <a:t>Different students can receive different universities even when they receive the same program recommendation.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400" name="Title"/>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solidFill>
                  <a:schemeClr val="tx1"/>
                </a:solidFill>
              </a:rPr>
              <a:t>Major Features (1/2)</a:t>
            </a:r>
          </a:p>
        </p:txBody>
      </p:sp>
      <p:sp>
        <p:nvSpPr>
          <p:cNvPr id="401" name="Google Shape;body;feat"/>
          <p:cNvSpPr txBox="1">
            <a:spLocks noGrp="1"/>
          </p:cNvSpPr>
          <p:nvPr>
            <p:ph type="body" idx="1"/>
          </p:nvPr>
        </p:nvSpPr>
        <p:spPr>
          <a:xfrm>
            <a:off x="457200" y="1321269"/>
            <a:ext cx="8229600" cy="4526100"/>
          </a:xfrm>
          <a:prstGeom prst="rect">
            <a:avLst/>
          </a:prstGeom>
          <a:noFill/>
          <a:ln>
            <a:noFill/>
          </a:ln>
        </p:spPr>
        <p:txBody>
          <a:bodyPr spcFirstLastPara="1" wrap="square" lIns="91425" tIns="45700" rIns="91425" bIns="45700" anchor="t" anchorCtr="0">
            <a:noAutofit/>
          </a:bodyPr>
          <a:lstStyle/>
          <a:p>
            <a:pPr marL="0" indent="0" algn="l">
              <a:lnSpc>
                <a:spcPct val="105000"/>
              </a:lnSpc>
              <a:spcBef>
                <a:spcPts val="200"/>
              </a:spcBef>
              <a:spcAft>
                <a:spcPts val="150"/>
              </a:spcAft>
              <a:buNone/>
            </a:pPr>
            <a:r>
              <a:rPr lang="en-US" sz="1600" b="1" dirty="0">
                <a:solidFill>
                  <a:schemeClr val="tx1"/>
                </a:solidFill>
              </a:rPr>
              <a:t>9.1 Student Profile</a:t>
            </a:r>
          </a:p>
          <a:p>
            <a:pPr marL="228600" lvl="0" indent="-228600" algn="l">
              <a:lnSpc>
                <a:spcPct val="115000"/>
              </a:lnSpc>
              <a:spcAft>
                <a:spcPts val="150"/>
              </a:spcAft>
              <a:buClr>
                <a:srgbClr val="193B69"/>
              </a:buClr>
              <a:buFont typeface="Arial"/>
              <a:buChar char="•"/>
            </a:pPr>
            <a:r>
              <a:rPr lang="en-US" sz="1400" dirty="0">
                <a:solidFill>
                  <a:schemeClr val="tx1"/>
                </a:solidFill>
              </a:rPr>
              <a:t>Collects the student’s academic record, personal preferences, interests, career goals, budget, and preferred location.</a:t>
            </a:r>
          </a:p>
          <a:p>
            <a:pPr marL="0" indent="0">
              <a:lnSpc>
                <a:spcPct val="105000"/>
              </a:lnSpc>
              <a:spcBef>
                <a:spcPts val="200"/>
              </a:spcBef>
              <a:spcAft>
                <a:spcPts val="150"/>
              </a:spcAft>
              <a:buNone/>
            </a:pPr>
            <a:r>
              <a:rPr lang="en-US" sz="1600" b="1" dirty="0">
                <a:solidFill>
                  <a:schemeClr val="tx1"/>
                </a:solidFill>
              </a:rPr>
              <a:t>9.2  Voice + Text NLP</a:t>
            </a:r>
          </a:p>
          <a:p>
            <a:pPr marL="228600" lvl="0" indent="-228600">
              <a:lnSpc>
                <a:spcPct val="115000"/>
              </a:lnSpc>
              <a:spcAft>
                <a:spcPts val="150"/>
              </a:spcAft>
              <a:buClr>
                <a:srgbClr val="193B69"/>
              </a:buClr>
            </a:pPr>
            <a:r>
              <a:rPr lang="en-US" sz="1400" dirty="0">
                <a:solidFill>
                  <a:schemeClr val="tx1"/>
                </a:solidFill>
              </a:rPr>
              <a:t>Lets students describe their interests and goals in everyday language instead of picking from fixed options. Students can also provide information by typing or speaking</a:t>
            </a:r>
          </a:p>
          <a:p>
            <a:pPr marL="0" indent="0" algn="l">
              <a:lnSpc>
                <a:spcPct val="105000"/>
              </a:lnSpc>
              <a:spcBef>
                <a:spcPts val="200"/>
              </a:spcBef>
              <a:spcAft>
                <a:spcPts val="150"/>
              </a:spcAft>
              <a:buNone/>
            </a:pPr>
            <a:r>
              <a:rPr lang="en-US" sz="1600" b="1" dirty="0">
                <a:solidFill>
                  <a:schemeClr val="tx1"/>
                </a:solidFill>
              </a:rPr>
              <a:t>9.3 Eligibility Checker</a:t>
            </a:r>
          </a:p>
          <a:p>
            <a:pPr marL="228600" lvl="0" indent="-228600" algn="l">
              <a:lnSpc>
                <a:spcPct val="115000"/>
              </a:lnSpc>
              <a:spcAft>
                <a:spcPts val="150"/>
              </a:spcAft>
              <a:buClr>
                <a:srgbClr val="193B69"/>
              </a:buClr>
              <a:buFont typeface="Arial"/>
              <a:buChar char="•"/>
            </a:pPr>
            <a:r>
              <a:rPr lang="en-US" sz="1400" dirty="0">
                <a:solidFill>
                  <a:schemeClr val="tx1"/>
                </a:solidFill>
              </a:rPr>
              <a:t>Compares the student’s academic profile against program admission requirements to flag eligible and ineligible options.</a:t>
            </a:r>
          </a:p>
          <a:p>
            <a:pPr marL="0" indent="0" algn="l">
              <a:lnSpc>
                <a:spcPct val="105000"/>
              </a:lnSpc>
              <a:spcBef>
                <a:spcPts val="200"/>
              </a:spcBef>
              <a:spcAft>
                <a:spcPts val="150"/>
              </a:spcAft>
              <a:buNone/>
            </a:pPr>
            <a:r>
              <a:rPr lang="en-US" sz="1600" b="1" dirty="0">
                <a:solidFill>
                  <a:schemeClr val="tx1"/>
                </a:solidFill>
              </a:rPr>
              <a:t>9.4 Personalized Program Recommendation</a:t>
            </a:r>
          </a:p>
          <a:p>
            <a:pPr marL="228600" lvl="0" indent="-228600" algn="l">
              <a:lnSpc>
                <a:spcPct val="115000"/>
              </a:lnSpc>
              <a:spcAft>
                <a:spcPts val="0"/>
              </a:spcAft>
              <a:buClr>
                <a:srgbClr val="193B69"/>
              </a:buClr>
              <a:buFont typeface="Arial"/>
              <a:buChar char="•"/>
            </a:pPr>
            <a:r>
              <a:rPr lang="en-US" sz="1400" dirty="0">
                <a:solidFill>
                  <a:schemeClr val="tx1"/>
                </a:solidFill>
              </a:rPr>
              <a:t>Recommends academic programs based on the student’s interests, academic background, career goals, and semantic similarity to program descriptions.</a:t>
            </a:r>
          </a:p>
          <a:p>
            <a:pPr marL="0" indent="0">
              <a:lnSpc>
                <a:spcPct val="105000"/>
              </a:lnSpc>
              <a:spcBef>
                <a:spcPts val="200"/>
              </a:spcBef>
              <a:spcAft>
                <a:spcPts val="150"/>
              </a:spcAft>
              <a:buNone/>
            </a:pPr>
            <a:r>
              <a:rPr lang="en-US" sz="1600" b="1" dirty="0">
                <a:solidFill>
                  <a:schemeClr val="tx1"/>
                </a:solidFill>
              </a:rPr>
              <a:t>9.5 University Ranking</a:t>
            </a:r>
          </a:p>
          <a:p>
            <a:pPr marL="228600" lvl="0" indent="-228600">
              <a:lnSpc>
                <a:spcPct val="115000"/>
              </a:lnSpc>
              <a:spcAft>
                <a:spcPts val="150"/>
              </a:spcAft>
              <a:buClr>
                <a:srgbClr val="193B69"/>
              </a:buClr>
            </a:pPr>
            <a:r>
              <a:rPr lang="en-US" sz="1400" dirty="0">
                <a:solidFill>
                  <a:schemeClr val="tx1"/>
                </a:solidFill>
              </a:rPr>
              <a:t>Ranks eligible universities using academic compatibility, interest match, career compatibility, budget, location, and other factors.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410" name="Title"/>
          <p:cNvSpPr txBox="1">
            <a:spLocks noGrp="1"/>
          </p:cNvSpPr>
          <p:nvPr>
            <p:ph type="title"/>
          </p:nvPr>
        </p:nvSpPr>
        <p:spPr>
          <a:xfrm>
            <a:off x="457200" y="22950"/>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solidFill>
                  <a:schemeClr val="tx1"/>
                </a:solidFill>
              </a:rPr>
              <a:t>Major Features (2/2)</a:t>
            </a:r>
          </a:p>
        </p:txBody>
      </p:sp>
      <p:sp>
        <p:nvSpPr>
          <p:cNvPr id="411" name="Google Shape;body;feat"/>
          <p:cNvSpPr txBox="1">
            <a:spLocks noGrp="1"/>
          </p:cNvSpPr>
          <p:nvPr>
            <p:ph type="body" idx="1"/>
          </p:nvPr>
        </p:nvSpPr>
        <p:spPr>
          <a:xfrm>
            <a:off x="457200" y="1165949"/>
            <a:ext cx="8229600" cy="4785145"/>
          </a:xfrm>
          <a:prstGeom prst="rect">
            <a:avLst/>
          </a:prstGeom>
          <a:noFill/>
          <a:ln>
            <a:noFill/>
          </a:ln>
        </p:spPr>
        <p:txBody>
          <a:bodyPr spcFirstLastPara="1" wrap="square" lIns="91425" tIns="45700" rIns="91425" bIns="45700" anchor="t" anchorCtr="0">
            <a:noAutofit/>
          </a:bodyPr>
          <a:lstStyle/>
          <a:p>
            <a:pPr marL="0" indent="0">
              <a:lnSpc>
                <a:spcPct val="105000"/>
              </a:lnSpc>
              <a:spcBef>
                <a:spcPts val="200"/>
              </a:spcBef>
              <a:spcAft>
                <a:spcPts val="150"/>
              </a:spcAft>
              <a:buNone/>
            </a:pPr>
            <a:r>
              <a:rPr lang="en-US" sz="1600" b="1" dirty="0">
                <a:solidFill>
                  <a:schemeClr val="tx1"/>
                </a:solidFill>
              </a:rPr>
              <a:t>9.6 University Comparison</a:t>
            </a:r>
          </a:p>
          <a:p>
            <a:pPr marL="228600" lvl="0" indent="-228600">
              <a:lnSpc>
                <a:spcPct val="115000"/>
              </a:lnSpc>
              <a:spcAft>
                <a:spcPts val="150"/>
              </a:spcAft>
              <a:buClr>
                <a:srgbClr val="193B69"/>
              </a:buClr>
            </a:pPr>
            <a:r>
              <a:rPr lang="en-US" sz="1400" dirty="0">
                <a:solidFill>
                  <a:schemeClr val="tx1"/>
                </a:solidFill>
              </a:rPr>
              <a:t>Lets students compare universities side by side on fees, eligibility, program fit, location, scholarships, and career alignment.</a:t>
            </a:r>
            <a:endParaRPr lang="en-US" sz="1400" b="1" dirty="0">
              <a:solidFill>
                <a:schemeClr val="tx1"/>
              </a:solidFill>
            </a:endParaRPr>
          </a:p>
          <a:p>
            <a:pPr marL="0" indent="0">
              <a:lnSpc>
                <a:spcPct val="115000"/>
              </a:lnSpc>
              <a:spcAft>
                <a:spcPts val="150"/>
              </a:spcAft>
              <a:buClr>
                <a:srgbClr val="193B69"/>
              </a:buClr>
              <a:buNone/>
            </a:pPr>
            <a:r>
              <a:rPr lang="en-US" sz="1600" b="1" dirty="0">
                <a:solidFill>
                  <a:schemeClr val="tx1"/>
                </a:solidFill>
              </a:rPr>
              <a:t>9.7 Women-Only University Recommendation</a:t>
            </a:r>
          </a:p>
          <a:p>
            <a:pPr marL="171450" indent="-171450">
              <a:lnSpc>
                <a:spcPct val="115000"/>
              </a:lnSpc>
              <a:spcAft>
                <a:spcPts val="150"/>
              </a:spcAft>
              <a:buClr>
                <a:srgbClr val="193B69"/>
              </a:buClr>
            </a:pPr>
            <a:r>
              <a:rPr lang="en-US" sz="1400" dirty="0">
                <a:solidFill>
                  <a:schemeClr val="tx1"/>
                </a:solidFill>
              </a:rPr>
              <a:t>The system can recommend women-only universities when the student's gender/preference requires it.</a:t>
            </a:r>
            <a:endParaRPr lang="en-US" sz="1400" b="1" dirty="0">
              <a:solidFill>
                <a:schemeClr val="tx1"/>
              </a:solidFill>
            </a:endParaRPr>
          </a:p>
          <a:p>
            <a:pPr marL="0" indent="0">
              <a:lnSpc>
                <a:spcPct val="105000"/>
              </a:lnSpc>
              <a:spcBef>
                <a:spcPts val="200"/>
              </a:spcBef>
              <a:spcAft>
                <a:spcPts val="150"/>
              </a:spcAft>
              <a:buNone/>
            </a:pPr>
            <a:r>
              <a:rPr lang="en-US" sz="1600" b="1" dirty="0">
                <a:solidFill>
                  <a:schemeClr val="tx1"/>
                </a:solidFill>
              </a:rPr>
              <a:t>9.8 Skill Gap Analysis</a:t>
            </a:r>
          </a:p>
          <a:p>
            <a:pPr marL="228600" lvl="0" indent="-228600">
              <a:lnSpc>
                <a:spcPct val="115000"/>
              </a:lnSpc>
              <a:buClr>
                <a:srgbClr val="193B69"/>
              </a:buClr>
            </a:pPr>
            <a:r>
              <a:rPr lang="en-US" sz="1400" dirty="0">
                <a:solidFill>
                  <a:schemeClr val="tx1"/>
                </a:solidFill>
              </a:rPr>
              <a:t>Compares the student’s existing skills with those required for a chosen career and highlights missing skills.</a:t>
            </a:r>
          </a:p>
          <a:p>
            <a:pPr marL="0" indent="0">
              <a:lnSpc>
                <a:spcPct val="105000"/>
              </a:lnSpc>
              <a:spcBef>
                <a:spcPts val="200"/>
              </a:spcBef>
              <a:spcAft>
                <a:spcPts val="150"/>
              </a:spcAft>
              <a:buNone/>
            </a:pPr>
            <a:r>
              <a:rPr lang="en-US" sz="1600" b="1" dirty="0">
                <a:solidFill>
                  <a:schemeClr val="tx1"/>
                </a:solidFill>
              </a:rPr>
              <a:t>9.9 Adaptive/Dynamic Questions</a:t>
            </a:r>
          </a:p>
          <a:p>
            <a:pPr marL="285750" indent="-285750">
              <a:lnSpc>
                <a:spcPct val="105000"/>
              </a:lnSpc>
              <a:spcBef>
                <a:spcPts val="200"/>
              </a:spcBef>
              <a:spcAft>
                <a:spcPts val="150"/>
              </a:spcAft>
            </a:pPr>
            <a:r>
              <a:rPr lang="en-US" sz="1400" dirty="0">
                <a:solidFill>
                  <a:schemeClr val="tx1"/>
                </a:solidFill>
              </a:rPr>
              <a:t>Answers student questions using a RAG system that retrieves relevant information from verified documents before responding.</a:t>
            </a:r>
          </a:p>
          <a:p>
            <a:pPr marL="285750" indent="-285750">
              <a:lnSpc>
                <a:spcPct val="105000"/>
              </a:lnSpc>
              <a:spcBef>
                <a:spcPts val="200"/>
              </a:spcBef>
              <a:spcAft>
                <a:spcPts val="150"/>
              </a:spcAft>
            </a:pPr>
            <a:r>
              <a:rPr lang="en-US" sz="1400" dirty="0">
                <a:solidFill>
                  <a:schemeClr val="tx1"/>
                </a:solidFill>
              </a:rPr>
              <a:t>Questions will change according to each student's previous answers and profile, instead of asking everyone the same fixed questions.</a:t>
            </a:r>
          </a:p>
          <a:p>
            <a:pPr marL="0" indent="0">
              <a:lnSpc>
                <a:spcPct val="105000"/>
              </a:lnSpc>
              <a:spcBef>
                <a:spcPts val="200"/>
              </a:spcBef>
              <a:spcAft>
                <a:spcPts val="150"/>
              </a:spcAft>
              <a:buNone/>
            </a:pPr>
            <a:r>
              <a:rPr lang="en-US" sz="1600" b="1" dirty="0">
                <a:solidFill>
                  <a:schemeClr val="tx1"/>
                </a:solidFill>
              </a:rPr>
              <a:t>9.10 Explainable Recommendations</a:t>
            </a:r>
          </a:p>
          <a:p>
            <a:pPr marL="228600" lvl="0" indent="-228600">
              <a:lnSpc>
                <a:spcPct val="115000"/>
              </a:lnSpc>
              <a:spcAft>
                <a:spcPts val="150"/>
              </a:spcAft>
              <a:buClr>
                <a:srgbClr val="193B69"/>
              </a:buClr>
            </a:pPr>
            <a:r>
              <a:rPr lang="en-US" sz="1400" dirty="0">
                <a:solidFill>
                  <a:schemeClr val="tx1"/>
                </a:solidFill>
              </a:rPr>
              <a:t>Explains why a particular university or program received a high recommendation score.</a:t>
            </a:r>
          </a:p>
          <a:p>
            <a:pPr marL="0" indent="0">
              <a:lnSpc>
                <a:spcPct val="105000"/>
              </a:lnSpc>
              <a:spcBef>
                <a:spcPts val="200"/>
              </a:spcBef>
              <a:spcAft>
                <a:spcPts val="150"/>
              </a:spcAft>
              <a:buNone/>
            </a:pPr>
            <a:r>
              <a:rPr lang="en-US" sz="1600" b="1" dirty="0">
                <a:solidFill>
                  <a:schemeClr val="tx1"/>
                </a:solidFill>
              </a:rPr>
              <a:t>9.11 Data Freshness</a:t>
            </a:r>
          </a:p>
          <a:p>
            <a:pPr marL="228600" lvl="0" indent="-228600">
              <a:lnSpc>
                <a:spcPct val="115000"/>
              </a:lnSpc>
              <a:buClr>
                <a:srgbClr val="193B69"/>
              </a:buClr>
            </a:pPr>
            <a:r>
              <a:rPr lang="en-US" sz="1400" dirty="0">
                <a:solidFill>
                  <a:schemeClr val="tx1"/>
                </a:solidFill>
              </a:rPr>
              <a:t>Tracks the source and last verification date of each piece of university information used in the system.</a:t>
            </a:r>
          </a:p>
          <a:p>
            <a:pPr marL="0" lvl="0" indent="0">
              <a:lnSpc>
                <a:spcPct val="115000"/>
              </a:lnSpc>
              <a:buClr>
                <a:srgbClr val="193B69"/>
              </a:buClr>
              <a:buNone/>
            </a:pPr>
            <a:endParaRPr lang="en-US" sz="1400"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CONSTRAINTS AND LIMITATIONS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Title"/>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Constraints and Limitations</a:t>
            </a:r>
          </a:p>
        </p:txBody>
      </p:sp>
      <p:sp>
        <p:nvSpPr>
          <p:cNvPr id="183" name="ConLeft"/>
          <p:cNvSpPr txBox="1"/>
          <p:nvPr/>
        </p:nvSpPr>
        <p:spPr>
          <a:xfrm>
            <a:off x="457200" y="1550000"/>
            <a:ext cx="3900000" cy="4576163"/>
          </a:xfrm>
          <a:prstGeom prst="rect">
            <a:avLst/>
          </a:prstGeom>
          <a:noFill/>
          <a:ln>
            <a:noFill/>
          </a:ln>
        </p:spPr>
        <p:txBody>
          <a:bodyPr wrap="square" lIns="0" tIns="0" rIns="91440" bIns="0" anchor="t" anchorCtr="0">
            <a:noAutofit/>
          </a:bodyPr>
          <a:lstStyle/>
          <a:p>
            <a:pPr marL="0" indent="0" algn="l">
              <a:lnSpc>
                <a:spcPct val="105000"/>
              </a:lnSpc>
              <a:spcBef>
                <a:spcPts val="0"/>
              </a:spcBef>
              <a:spcAft>
                <a:spcPts val="100"/>
              </a:spcAft>
              <a:buNone/>
            </a:pPr>
            <a:r>
              <a:rPr lang="en-US" sz="1250" b="1" dirty="0">
                <a:solidFill>
                  <a:schemeClr val="tx1"/>
                </a:solidFill>
              </a:rPr>
              <a:t>1. Dataset Dependency</a:t>
            </a:r>
          </a:p>
          <a:p>
            <a:pPr marL="228600" indent="-171450" algn="l">
              <a:lnSpc>
                <a:spcPct val="108000"/>
              </a:lnSpc>
              <a:spcAft>
                <a:spcPts val="60"/>
              </a:spcAft>
              <a:buClr>
                <a:srgbClr val="193B69"/>
              </a:buClr>
              <a:buFont typeface="Arial" panose="020B0604020202020204" pitchFamily="34" charset="0"/>
              <a:buChar char="•"/>
            </a:pPr>
            <a:r>
              <a:rPr lang="en-US" sz="1050" dirty="0">
                <a:solidFill>
                  <a:schemeClr val="tx1"/>
                </a:solidFill>
              </a:rPr>
              <a:t>The performance of the machine learning model depends on the quality, size, and relevance of the available training datasets.</a:t>
            </a:r>
          </a:p>
          <a:p>
            <a:pPr marL="228600" indent="-171450" algn="l">
              <a:lnSpc>
                <a:spcPct val="108000"/>
              </a:lnSpc>
              <a:spcAft>
                <a:spcPts val="0"/>
              </a:spcAft>
              <a:buClr>
                <a:srgbClr val="193B69"/>
              </a:buClr>
              <a:buFont typeface="Arial" panose="020B0604020202020204" pitchFamily="34" charset="0"/>
              <a:buChar char="•"/>
            </a:pPr>
            <a:r>
              <a:rPr lang="en-US" sz="1050" dirty="0">
                <a:solidFill>
                  <a:schemeClr val="tx1"/>
                </a:solidFill>
              </a:rPr>
              <a:t>Different datasets may contain different attributes and formats.</a:t>
            </a:r>
          </a:p>
          <a:p>
            <a:pPr marL="0" indent="0" algn="l">
              <a:lnSpc>
                <a:spcPct val="105000"/>
              </a:lnSpc>
              <a:spcBef>
                <a:spcPts val="220"/>
              </a:spcBef>
              <a:spcAft>
                <a:spcPts val="100"/>
              </a:spcAft>
              <a:buNone/>
            </a:pPr>
            <a:r>
              <a:rPr lang="en-US" sz="1250" b="1" dirty="0">
                <a:solidFill>
                  <a:schemeClr val="tx1"/>
                </a:solidFill>
              </a:rPr>
              <a:t>2. Web Crawling Limitations</a:t>
            </a:r>
          </a:p>
          <a:p>
            <a:pPr marL="228600" indent="-171450" algn="l">
              <a:lnSpc>
                <a:spcPct val="108000"/>
              </a:lnSpc>
              <a:spcAft>
                <a:spcPts val="60"/>
              </a:spcAft>
              <a:buClr>
                <a:srgbClr val="193B69"/>
              </a:buClr>
              <a:buFont typeface="Arial" panose="020B0604020202020204" pitchFamily="34" charset="0"/>
              <a:buChar char="•"/>
            </a:pPr>
            <a:r>
              <a:rPr lang="en-US" sz="1050" dirty="0">
                <a:solidFill>
                  <a:schemeClr val="tx1"/>
                </a:solidFill>
              </a:rPr>
              <a:t>University websites may have different structures and formats, making data extraction challenging.</a:t>
            </a:r>
          </a:p>
          <a:p>
            <a:pPr marL="228600" indent="-171450" algn="l">
              <a:lnSpc>
                <a:spcPct val="108000"/>
              </a:lnSpc>
              <a:spcAft>
                <a:spcPts val="0"/>
              </a:spcAft>
              <a:buClr>
                <a:srgbClr val="193B69"/>
              </a:buClr>
              <a:buFont typeface="Arial" panose="020B0604020202020204" pitchFamily="34" charset="0"/>
              <a:buChar char="•"/>
            </a:pPr>
            <a:r>
              <a:rPr lang="en-US" sz="1050" dirty="0">
                <a:solidFill>
                  <a:schemeClr val="tx1"/>
                </a:solidFill>
              </a:rPr>
              <a:t>Some websites may use dynamic content, PDFs, or restricted pages that can affect data extraction.</a:t>
            </a:r>
          </a:p>
          <a:p>
            <a:pPr marL="0" indent="0" algn="l">
              <a:lnSpc>
                <a:spcPct val="105000"/>
              </a:lnSpc>
              <a:spcBef>
                <a:spcPts val="220"/>
              </a:spcBef>
              <a:spcAft>
                <a:spcPts val="100"/>
              </a:spcAft>
              <a:buNone/>
            </a:pPr>
            <a:r>
              <a:rPr lang="en-US" sz="1250" b="1" dirty="0">
                <a:solidFill>
                  <a:schemeClr val="tx1"/>
                </a:solidFill>
              </a:rPr>
              <a:t>3. Data Freshness</a:t>
            </a:r>
          </a:p>
          <a:p>
            <a:pPr marL="228600" indent="-171450" algn="l">
              <a:lnSpc>
                <a:spcPct val="108000"/>
              </a:lnSpc>
              <a:spcAft>
                <a:spcPts val="60"/>
              </a:spcAft>
              <a:buClr>
                <a:srgbClr val="193B69"/>
              </a:buClr>
              <a:buFont typeface="Arial" panose="020B0604020202020204" pitchFamily="34" charset="0"/>
              <a:buChar char="•"/>
            </a:pPr>
            <a:r>
              <a:rPr lang="en-US" sz="1050" dirty="0">
                <a:solidFill>
                  <a:schemeClr val="tx1"/>
                </a:solidFill>
              </a:rPr>
              <a:t>The system will crawl university websites on a weekly basis to update information.</a:t>
            </a:r>
          </a:p>
          <a:p>
            <a:pPr marL="228600" indent="-171450" algn="l">
              <a:lnSpc>
                <a:spcPct val="108000"/>
              </a:lnSpc>
              <a:spcAft>
                <a:spcPts val="0"/>
              </a:spcAft>
              <a:buClr>
                <a:srgbClr val="193B69"/>
              </a:buClr>
              <a:buFont typeface="Arial" panose="020B0604020202020204" pitchFamily="34" charset="0"/>
              <a:buChar char="•"/>
            </a:pPr>
            <a:r>
              <a:rPr lang="en-US" sz="1050" dirty="0">
                <a:solidFill>
                  <a:schemeClr val="tx1"/>
                </a:solidFill>
              </a:rPr>
              <a:t>However, changes made between crawling cycles may not be reflected immediately.</a:t>
            </a:r>
          </a:p>
          <a:p>
            <a:pPr marL="0" indent="0" algn="l">
              <a:lnSpc>
                <a:spcPct val="105000"/>
              </a:lnSpc>
              <a:spcBef>
                <a:spcPts val="220"/>
              </a:spcBef>
              <a:spcAft>
                <a:spcPts val="100"/>
              </a:spcAft>
              <a:buNone/>
            </a:pPr>
            <a:r>
              <a:rPr lang="en-US" sz="1250" b="1" dirty="0">
                <a:solidFill>
                  <a:schemeClr val="tx1"/>
                </a:solidFill>
              </a:rPr>
              <a:t>4. LLM Limitations</a:t>
            </a:r>
          </a:p>
          <a:p>
            <a:pPr marL="228600" indent="-171450" algn="l">
              <a:lnSpc>
                <a:spcPct val="108000"/>
              </a:lnSpc>
              <a:spcAft>
                <a:spcPts val="60"/>
              </a:spcAft>
              <a:buClr>
                <a:srgbClr val="193B69"/>
              </a:buClr>
              <a:buFont typeface="Arial" panose="020B0604020202020204" pitchFamily="34" charset="0"/>
              <a:buChar char="•"/>
            </a:pPr>
            <a:r>
              <a:rPr lang="en-US" sz="1050" dirty="0">
                <a:solidFill>
                  <a:schemeClr val="tx1"/>
                </a:solidFill>
              </a:rPr>
              <a:t>The LLM may sometimes misinterpret natural-language information provided by students.</a:t>
            </a:r>
          </a:p>
          <a:p>
            <a:pPr marL="228600" indent="-171450" algn="l">
              <a:lnSpc>
                <a:spcPct val="108000"/>
              </a:lnSpc>
              <a:spcAft>
                <a:spcPts val="0"/>
              </a:spcAft>
              <a:buClr>
                <a:srgbClr val="193B69"/>
              </a:buClr>
              <a:buFont typeface="Arial" panose="020B0604020202020204" pitchFamily="34" charset="0"/>
              <a:buChar char="•"/>
            </a:pPr>
            <a:r>
              <a:rPr lang="en-US" sz="1050" dirty="0">
                <a:solidFill>
                  <a:schemeClr val="tx1"/>
                </a:solidFill>
              </a:rPr>
              <a:t>Program recommendations may depend on the quality and completeness of the available program descriptions.</a:t>
            </a:r>
          </a:p>
        </p:txBody>
      </p:sp>
      <p:sp>
        <p:nvSpPr>
          <p:cNvPr id="184" name="ConRight"/>
          <p:cNvSpPr txBox="1"/>
          <p:nvPr/>
        </p:nvSpPr>
        <p:spPr>
          <a:xfrm>
            <a:off x="4786800" y="1550000"/>
            <a:ext cx="3900000" cy="4576163"/>
          </a:xfrm>
          <a:prstGeom prst="rect">
            <a:avLst/>
          </a:prstGeom>
          <a:noFill/>
          <a:ln>
            <a:noFill/>
          </a:ln>
        </p:spPr>
        <p:txBody>
          <a:bodyPr wrap="square" lIns="91440" tIns="0" rIns="0" bIns="0" anchor="t" anchorCtr="0">
            <a:noAutofit/>
          </a:bodyPr>
          <a:lstStyle/>
          <a:p>
            <a:pPr marL="0" indent="0" algn="l">
              <a:lnSpc>
                <a:spcPct val="105000"/>
              </a:lnSpc>
              <a:spcBef>
                <a:spcPts val="0"/>
              </a:spcBef>
              <a:spcAft>
                <a:spcPts val="100"/>
              </a:spcAft>
              <a:buNone/>
            </a:pPr>
            <a:r>
              <a:rPr lang="en-US" sz="1250" b="1" dirty="0">
                <a:solidFill>
                  <a:schemeClr val="tx1"/>
                </a:solidFill>
              </a:rPr>
              <a:t>5. Machine Learning Limitations</a:t>
            </a:r>
          </a:p>
          <a:p>
            <a:pPr marL="228600" indent="-171450" algn="l">
              <a:lnSpc>
                <a:spcPct val="108000"/>
              </a:lnSpc>
              <a:spcAft>
                <a:spcPts val="60"/>
              </a:spcAft>
              <a:buClr>
                <a:srgbClr val="193B69"/>
              </a:buClr>
              <a:buFont typeface="Arial" panose="020B0604020202020204" pitchFamily="34" charset="0"/>
              <a:buChar char="•"/>
            </a:pPr>
            <a:r>
              <a:rPr lang="en-US" sz="1050" dirty="0">
                <a:solidFill>
                  <a:schemeClr val="tx1"/>
                </a:solidFill>
              </a:rPr>
              <a:t>Field recommendation depends on the patterns learned from the training data.</a:t>
            </a:r>
          </a:p>
          <a:p>
            <a:pPr marL="228600" indent="-171450" algn="l">
              <a:lnSpc>
                <a:spcPct val="108000"/>
              </a:lnSpc>
              <a:spcAft>
                <a:spcPts val="0"/>
              </a:spcAft>
              <a:buClr>
                <a:srgbClr val="193B69"/>
              </a:buClr>
              <a:buFont typeface="Arial" panose="020B0604020202020204" pitchFamily="34" charset="0"/>
              <a:buChar char="•"/>
            </a:pPr>
            <a:r>
              <a:rPr lang="en-US" sz="1050" dirty="0">
                <a:solidFill>
                  <a:schemeClr val="tx1"/>
                </a:solidFill>
              </a:rPr>
              <a:t>The model may be less reliable when dealing with unusual or previously unseen student profiles.</a:t>
            </a:r>
          </a:p>
          <a:p>
            <a:pPr marL="0" indent="0" algn="l">
              <a:lnSpc>
                <a:spcPct val="105000"/>
              </a:lnSpc>
              <a:spcBef>
                <a:spcPts val="220"/>
              </a:spcBef>
              <a:spcAft>
                <a:spcPts val="100"/>
              </a:spcAft>
              <a:buNone/>
            </a:pPr>
            <a:r>
              <a:rPr lang="en-US" sz="1250" b="1" dirty="0">
                <a:solidFill>
                  <a:schemeClr val="tx1"/>
                </a:solidFill>
              </a:rPr>
              <a:t>6. MCDM/TOPSIS Limitations</a:t>
            </a:r>
          </a:p>
          <a:p>
            <a:pPr marL="228600" indent="-171450" algn="l">
              <a:lnSpc>
                <a:spcPct val="108000"/>
              </a:lnSpc>
              <a:spcAft>
                <a:spcPts val="60"/>
              </a:spcAft>
              <a:buClr>
                <a:srgbClr val="193B69"/>
              </a:buClr>
              <a:buFont typeface="Arial" panose="020B0604020202020204" pitchFamily="34" charset="0"/>
              <a:buChar char="•"/>
            </a:pPr>
            <a:r>
              <a:rPr lang="en-US" sz="1050" dirty="0">
                <a:solidFill>
                  <a:schemeClr val="tx1"/>
                </a:solidFill>
              </a:rPr>
              <a:t>University rankings depend on the weights assigned to different criteria.</a:t>
            </a:r>
          </a:p>
          <a:p>
            <a:pPr marL="228600" indent="-171450" algn="l">
              <a:lnSpc>
                <a:spcPct val="108000"/>
              </a:lnSpc>
              <a:spcAft>
                <a:spcPts val="0"/>
              </a:spcAft>
              <a:buClr>
                <a:srgbClr val="193B69"/>
              </a:buClr>
              <a:buFont typeface="Arial" panose="020B0604020202020204" pitchFamily="34" charset="0"/>
              <a:buChar char="•"/>
            </a:pPr>
            <a:r>
              <a:rPr lang="en-US" sz="1050" dirty="0">
                <a:solidFill>
                  <a:schemeClr val="tx1"/>
                </a:solidFill>
              </a:rPr>
              <a:t>Changes in a student’s preferences or priorities can result in different university rankings.</a:t>
            </a:r>
          </a:p>
          <a:p>
            <a:pPr marL="0" indent="0" algn="l">
              <a:lnSpc>
                <a:spcPct val="105000"/>
              </a:lnSpc>
              <a:spcBef>
                <a:spcPts val="220"/>
              </a:spcBef>
              <a:spcAft>
                <a:spcPts val="100"/>
              </a:spcAft>
              <a:buNone/>
            </a:pPr>
            <a:r>
              <a:rPr lang="en-US" sz="1250" b="1" dirty="0">
                <a:solidFill>
                  <a:schemeClr val="tx1"/>
                </a:solidFill>
              </a:rPr>
              <a:t>7. Recommendation Limitation</a:t>
            </a:r>
          </a:p>
          <a:p>
            <a:pPr marL="228600" indent="-171450" algn="l">
              <a:lnSpc>
                <a:spcPct val="108000"/>
              </a:lnSpc>
              <a:spcAft>
                <a:spcPts val="0"/>
              </a:spcAft>
              <a:buClr>
                <a:srgbClr val="193B69"/>
              </a:buClr>
              <a:buFont typeface="Arial" panose="020B0604020202020204" pitchFamily="34" charset="0"/>
              <a:buChar char="•"/>
            </a:pPr>
            <a:r>
              <a:rPr lang="en-US" sz="1050" dirty="0">
                <a:solidFill>
                  <a:schemeClr val="tx1"/>
                </a:solidFill>
              </a:rPr>
              <a:t>The system provides personalized decision support, but it cannot guarantee admission or that a recommendation will be the perfect choice for every student.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AB08C0F7-F9DC-EF6F-D199-2F58B8CBFBC8}"/>
            </a:ext>
          </a:extLst>
        </p:cNvPr>
        <p:cNvGrpSpPr/>
        <p:nvPr/>
      </p:nvGrpSpPr>
      <p:grpSpPr>
        <a:xfrm>
          <a:off x="0" y="0"/>
          <a:ext cx="0" cy="0"/>
          <a:chOff x="0" y="0"/>
          <a:chExt cx="0" cy="0"/>
        </a:xfrm>
      </p:grpSpPr>
      <p:sp>
        <p:nvSpPr>
          <p:cNvPr id="175" name="Google Shape;175;p26">
            <a:extLst>
              <a:ext uri="{FF2B5EF4-FFF2-40B4-BE49-F238E27FC236}">
                <a16:creationId xmlns:a16="http://schemas.microsoft.com/office/drawing/2014/main" id="{5C9A2141-E99A-F1DE-6C2C-00FCABAC933E}"/>
              </a:ext>
            </a:extLst>
          </p:cNvPr>
          <p:cNvSpPr txBox="1">
            <a:spLocks noGrp="1"/>
          </p:cNvSpPr>
          <p:nvPr>
            <p:ph type="title"/>
          </p:nvPr>
        </p:nvSpPr>
        <p:spPr>
          <a:xfrm>
            <a:off x="685800" y="2391389"/>
            <a:ext cx="7772400" cy="1362075"/>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SzPts val="1400"/>
              <a:buNone/>
            </a:pPr>
            <a:r>
              <a:rPr lang="en-US" dirty="0"/>
              <a:t>THANK YOU</a:t>
            </a:r>
            <a:br>
              <a:rPr lang="en-US" dirty="0"/>
            </a:br>
            <a:r>
              <a:rPr lang="en-US" dirty="0"/>
              <a:t>ANY QUESTIONS?</a:t>
            </a:r>
            <a:endParaRPr dirty="0"/>
          </a:p>
        </p:txBody>
      </p:sp>
    </p:spTree>
    <p:extLst>
      <p:ext uri="{BB962C8B-B14F-4D97-AF65-F5344CB8AC3E}">
        <p14:creationId xmlns:p14="http://schemas.microsoft.com/office/powerpoint/2010/main" val="29614543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585</TotalTime>
  <Words>1771</Words>
  <Application>Microsoft Office PowerPoint</Application>
  <PresentationFormat>On-screen Show (4:3)</PresentationFormat>
  <Paragraphs>210</Paragraphs>
  <Slides>23</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Final Year Project Proposal</vt:lpstr>
      <vt:lpstr>Project Team</vt:lpstr>
      <vt:lpstr>Table of Content</vt:lpstr>
      <vt:lpstr>INTRODUCTION AND BACKGROUND</vt:lpstr>
      <vt:lpstr>Introduction and Background</vt:lpstr>
      <vt:lpstr>LITERATURE REVIEW</vt:lpstr>
      <vt:lpstr>Literature Review</vt:lpstr>
      <vt:lpstr>Gap Analysis</vt:lpstr>
      <vt:lpstr>Gap Analysis</vt:lpstr>
      <vt:lpstr>PROBLEM STATEMENT</vt:lpstr>
      <vt:lpstr>Problem Statement</vt:lpstr>
      <vt:lpstr>PROPOSED SOLUTION AND METHODOLOGY</vt:lpstr>
      <vt:lpstr>Proposed Solution</vt:lpstr>
      <vt:lpstr>Methodology</vt:lpstr>
      <vt:lpstr>Work-Flow Diagram</vt:lpstr>
      <vt:lpstr>PROJECT SCOPE</vt:lpstr>
      <vt:lpstr>Project Scope</vt:lpstr>
      <vt:lpstr>Project Scope (cont’d)</vt:lpstr>
      <vt:lpstr>Major Features (1/2)</vt:lpstr>
      <vt:lpstr>Major Features (2/2)</vt:lpstr>
      <vt:lpstr>CONSTRAINTS AND LIMITATIONS</vt:lpstr>
      <vt:lpstr>Constraints and Limitations</vt:lpstr>
      <vt:lpstr>THANK YOU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Proposal</dc:title>
  <dc:creator>Khan</dc:creator>
  <cp:lastModifiedBy>Muhammad Zeeshan</cp:lastModifiedBy>
  <cp:revision>10</cp:revision>
  <dcterms:created xsi:type="dcterms:W3CDTF">2013-01-22T07:04:44Z</dcterms:created>
  <dcterms:modified xsi:type="dcterms:W3CDTF">2026-09-15T17:33:43Z</dcterms:modified>
</cp:coreProperties>
</file>